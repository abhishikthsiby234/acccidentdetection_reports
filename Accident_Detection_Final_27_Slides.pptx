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87" r:id="rId15"/>
    <p:sldId id="283" r:id="rId16"/>
    <p:sldId id="284" r:id="rId17"/>
    <p:sldId id="286" r:id="rId18"/>
    <p:sldId id="285"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1276CFE-1670-39F4-8227-01ECE02311A9}">
          <p14:sldIdLst>
            <p14:sldId id="256"/>
            <p14:sldId id="257"/>
            <p14:sldId id="258"/>
            <p14:sldId id="259"/>
            <p14:sldId id="260"/>
          </p14:sldIdLst>
        </p14:section>
        <p14:section name="System Study" id="{54C7F1AB-6D12-2D87-2FE8-759FBFECF0EF}">
          <p14:sldIdLst>
            <p14:sldId id="261"/>
            <p14:sldId id="262"/>
            <p14:sldId id="263"/>
            <p14:sldId id="264"/>
          </p14:sldIdLst>
        </p14:section>
        <p14:section name="Design and Build" id="{D538D2DE-98D9-2762-4B1B-4EEA28DA2108}">
          <p14:sldIdLst>
            <p14:sldId id="265"/>
            <p14:sldId id="266"/>
            <p14:sldId id="268"/>
            <p14:sldId id="267"/>
            <p14:sldId id="287"/>
            <p14:sldId id="283"/>
            <p14:sldId id="284"/>
            <p14:sldId id="286"/>
            <p14:sldId id="285"/>
            <p14:sldId id="269"/>
            <p14:sldId id="270"/>
          </p14:sldIdLst>
        </p14:section>
        <p14:section name="Evaluation" id="{7F223B7F-24EA-785F-8119-1FF318B4E6C3}">
          <p14:sldIdLst>
            <p14:sldId id="272"/>
            <p14:sldId id="273"/>
            <p14:sldId id="274"/>
            <p14:sldId id="275"/>
            <p14:sldId id="276"/>
          </p14:sldIdLst>
        </p14:section>
        <p14:section name="Conclusion" id="{7543C3C1-8C22-12D1-6F10-486924B4F7FE}">
          <p14:sldIdLst>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autoAdjust="0"/>
  </p:normalViewPr>
  <p:slideViewPr>
    <p:cSldViewPr snapToGrid="0" snapToObjects="1">
      <p:cViewPr varScale="1">
        <p:scale>
          <a:sx n="84" d="100"/>
          <a:sy n="84" d="100"/>
        </p:scale>
        <p:origin x="494" y="72"/>
      </p:cViewPr>
      <p:guideLst/>
    </p:cSldViewPr>
  </p:slideViewPr>
  <p:outlineViewPr>
    <p:cViewPr>
      <p:scale>
        <a:sx n="33" d="100"/>
        <a:sy n="33" d="100"/>
      </p:scale>
      <p:origin x="0" y="-102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Tests</c:v>
                </c:pt>
              </c:strCache>
            </c:strRef>
          </c:tx>
          <c:spPr>
            <a:solidFill>
              <a:schemeClr val="accent1"/>
            </a:solidFill>
            <a:ln w="9525" cap="flat">
              <a:solidFill>
                <a:srgbClr val="F9F9F9"/>
              </a:solidFill>
              <a:prstDash val="solid"/>
              <a:round/>
            </a:ln>
            <a:effectLst/>
          </c:spPr>
          <c:dPt>
            <c:idx val="0"/>
            <c:bubble3D val="0"/>
            <c:spPr>
              <a:solidFill>
                <a:srgbClr val="201449"/>
              </a:solidFill>
              <a:effectLst/>
            </c:spPr>
            <c:extLst>
              <c:ext xmlns:c16="http://schemas.microsoft.com/office/drawing/2014/chart" uri="{C3380CC4-5D6E-409C-BE32-E72D297353CC}">
                <c16:uniqueId val="{00000001-7CBD-494F-9F79-500E7C327588}"/>
              </c:ext>
            </c:extLst>
          </c:dPt>
          <c:dPt>
            <c:idx val="1"/>
            <c:bubble3D val="0"/>
            <c:spPr>
              <a:solidFill>
                <a:srgbClr val="F900A0"/>
              </a:solidFill>
              <a:effectLst/>
            </c:spPr>
            <c:extLst>
              <c:ext xmlns:c16="http://schemas.microsoft.com/office/drawing/2014/chart" uri="{C3380CC4-5D6E-409C-BE32-E72D297353CC}">
                <c16:uniqueId val="{00000003-7CBD-494F-9F79-500E7C327588}"/>
              </c:ext>
            </c:extLst>
          </c:dPt>
          <c:dPt>
            <c:idx val="2"/>
            <c:bubble3D val="0"/>
            <c:spPr>
              <a:solidFill>
                <a:srgbClr val="1EBE9B"/>
              </a:solidFill>
              <a:effectLst/>
            </c:spPr>
            <c:extLst>
              <c:ext xmlns:c16="http://schemas.microsoft.com/office/drawing/2014/chart" uri="{C3380CC4-5D6E-409C-BE32-E72D297353CC}">
                <c16:uniqueId val="{00000005-7CBD-494F-9F79-500E7C327588}"/>
              </c:ext>
            </c:extLst>
          </c:dPt>
          <c:dLbls>
            <c:dLbl>
              <c:idx val="0"/>
              <c:numFmt formatCode="General"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CBD-494F-9F79-500E7C327588}"/>
                </c:ext>
              </c:extLst>
            </c:dLbl>
            <c:dLbl>
              <c:idx val="1"/>
              <c:numFmt formatCode="General"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CBD-494F-9F79-500E7C327588}"/>
                </c:ext>
              </c:extLst>
            </c:dLbl>
            <c:dLbl>
              <c:idx val="2"/>
              <c:numFmt formatCode="General"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CBD-494F-9F79-500E7C327588}"/>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User details</c:v>
                </c:pt>
                <c:pt idx="1">
                  <c:v>Detection</c:v>
                </c:pt>
                <c:pt idx="2">
                  <c:v>SMS / location</c:v>
                </c:pt>
              </c:strCache>
            </c:strRef>
          </c:cat>
          <c:val>
            <c:numRef>
              <c:f>Sheet1!$B$2:$B$4</c:f>
              <c:numCache>
                <c:formatCode>General</c:formatCode>
                <c:ptCount val="3"/>
                <c:pt idx="0">
                  <c:v>5</c:v>
                </c:pt>
                <c:pt idx="1">
                  <c:v>9</c:v>
                </c:pt>
                <c:pt idx="2">
                  <c:v>6</c:v>
                </c:pt>
              </c:numCache>
            </c:numRef>
          </c:val>
          <c:extLst>
            <c:ext xmlns:c16="http://schemas.microsoft.com/office/drawing/2014/chart" uri="{C3380CC4-5D6E-409C-BE32-E72D297353CC}">
              <c16:uniqueId val="{00000006-7CBD-494F-9F79-500E7C327588}"/>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20144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584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panel. I am Abhishikth S Siby, S3 MCA, register number MLM25MCA-2004. My mini project is an Accident Detection and Alert System using Smartphone Sensors, guided by Ms. Anju John.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serious collision, the first minutes decide how effective medical help can be. The victim may not be able to call anyone. Phones already contain the needed sensors, so my project turns the phone into an automatic detector and alert device.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brief: the app watches phone motion, raises an alarm when a threshold is crossed, and lets the user cancel false alerts. If there is no response it fetches GPS and prepares an emergency SMS. These are prototype parameters, and all twenty functional test cases passed.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formally, victims often cannot call for help, and existing automatic systems need extra hardware or constant connectivity. My project addresses this with a smartphone-only, on-device approach.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is automatic detection plus alerting. The specific objectives follow the user journey from storing details to sending the message. The benefit is faster notification at almost no cost.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usual workflow everything depends on a person noticing and calling. Automatic systems exist, but they need vehicle hardware or cloud connectivity. Simple phone apps are cheap but often raise false alarms.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phone: it detects, warns, locates and prepares the SMS. Compared with existing systems there is no hardware to buy and no server to maintain. The SMS still needs cellular service; only mobile data is not required.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a supplementary safety aid, not a replacement for certified crash systems. It covers the full detect-to-alert workflow on Android. Future uses include fleet safety and smart-city integration.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Learned approaches like iBump improve accuracy but need training data. HDy Copilot and IoT approaches need vehicle hardware or the cloud. Threshold apps like ResQ are cheap but prone to false positives. The report gives no numeric metrics for these papers, so I compare methods and findings.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package has one job: sensors for motion, geolocator for position, shared_preferences for storage, audioplayers for the alarm, url_launcher to open the SMS, and permission_handler for permissions.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needs a modest computer and Flutter tooling. For testing I used a physical Android phone because emulators cannot reproduce real motion, GPS or SMS behaviour.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diagram shows a different view: DFD shows data movement, use case shows who does what, class shows structure, state shows the lifecycle of one detection, activity shows the two decision points, and sequence shows the order of calls.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mobile-centric. The user interacts with the Flutter UI, the controller reads sensor events, the warning timer allows cancellation, GPS provides the location and the SMS composer is launched. SharedPreferences replaces a database and there is no backend server.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8E58-8D85-7DAB-982A-6B78A5C55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5D02F-2100-F322-EFCD-AC5C35645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9489D-E981-9786-0DCB-29752A817824}"/>
              </a:ext>
            </a:extLst>
          </p:cNvPr>
          <p:cNvSpPr>
            <a:spLocks noGrp="1"/>
          </p:cNvSpPr>
          <p:nvPr>
            <p:ph type="body" idx="1"/>
          </p:nvPr>
        </p:nvSpPr>
        <p:spPr/>
        <p:txBody>
          <a:bodyPr/>
          <a:lstStyle/>
          <a:p>
            <a:r>
              <a:rPr lang="en-US" dirty="0"/>
              <a:t>Each diagram shows a different view: DFD shows data movement, use case shows who does what, class shows structure, state shows the lifecycle of one detection, activity shows the two decision points, and sequence shows the order of calls.</a:t>
            </a:r>
          </a:p>
        </p:txBody>
      </p:sp>
      <p:sp>
        <p:nvSpPr>
          <p:cNvPr id="4" name="Slide Number Placeholder 3">
            <a:extLst>
              <a:ext uri="{FF2B5EF4-FFF2-40B4-BE49-F238E27FC236}">
                <a16:creationId xmlns:a16="http://schemas.microsoft.com/office/drawing/2014/main" id="{C1EDF002-AF9D-FF95-8202-F248A4DD73F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48290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seven modules, each with one responsibility. The detection control module will not enable monitoring until emergency details are saved. If the SMS composer cannot be opened, the message is stored for retry.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reading gives x, y and z, combined into one magnitude. I keep the last eight readings and test two conditions: above 25, or more than 12 above the recent average. The eight-second cooldown stops one impact producing many alerts. These are prototype values. Detection uses accelerometer magnitude only.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functional checks passed on the prototype, including cancel preventing the SMS and the Maps link opening the right location. I did not measure accuracy, precision, recall, F1 or response time, so I am not claiming any.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screens a user sees: registration, the main detection switch, the Maps location opened from the generated link, and the SMS composer with the prepared message. Login, dashboard and admin screens do not apply to this app.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approaches using what my project showed. Processing and reporting are automated, and time improves because nothing waits for a bystander. For accuracy I have no measured figure. On security, data stays on the device but the SMS itself is not encrypted.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was done at three levels. Unit tests covered user-details validation and motion thresholds; integration tests covered timeout, location and SMS, including the unsent-message fallback. All twenty cases passed. I used controlled movements rather than real crashes and did not run a formal user acceptance study.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now show a short demo. Details are saved, detection is turned on, normal movement gives no alert, a controlled shake sounds the alarm and I cancel it, and finally I let one alert expire so the SMS composer opens with the location link.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advantages are cost, speed and simplicity, plus the cancel step and a message that is immediately actionable for the recipient.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limits. Thresholds depend on device and placement, SMS needs cellular service, and background monitoring costs battery. The code snapshot uses a 10 second timer while the documented requirement is 20 seconds; I will align them in the final build.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phone the user already carries can shorten the gap between an accident and the first alert. It is a low-cost baseline, validated by functional testing, and can be improved with machine learning and wearable inputs.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next step is collecting labelled data from several devices to replace fixed thresholds with a trained classifier. Wearables could add heart rate and fall detection, and multiple contacts and emergency-service links would improve reach.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references in IEEE format. The full list of 25 references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panel, and thank you to Ms. Anju John for her guidance. I would be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00800"/>
            <a:ext cx="8229600" cy="274320"/>
          </a:xfrm>
          <a:prstGeom prst="rect">
            <a:avLst/>
          </a:prstGeom>
          <a:noFill/>
          <a:ln/>
        </p:spPr>
        <p:txBody>
          <a:bodyPr wrap="square" lIns="0" tIns="0" rIns="0" bIns="0" rtlCol="0" anchor="ctr"/>
          <a:lstStyle/>
          <a:p>
            <a:pPr marL="0" indent="0">
              <a:buNone/>
            </a:pPr>
            <a:r>
              <a:rPr lang="en-US" sz="1000" dirty="0">
                <a:solidFill>
                  <a:srgbClr val="FFFFFF"/>
                </a:solidFill>
                <a:latin typeface="Avenir Next LT Pro" pitchFamily="34" charset="0"/>
                <a:ea typeface="Avenir Next LT Pro" pitchFamily="34" charset="-122"/>
                <a:cs typeface="Avenir Next LT Pro" pitchFamily="34" charset="-120"/>
              </a:rPr>
              <a:t>Accident Detection and Alert System | Dept. of Computer Applications, MLMCE</a:t>
            </a:r>
            <a:endParaRPr lang="en-US" sz="1000" dirty="0"/>
          </a:p>
        </p:txBody>
      </p:sp>
      <p:sp>
        <p:nvSpPr>
          <p:cNvPr id="3" name="Text 1"/>
          <p:cNvSpPr>
            <a:spLocks noGrp="1"/>
          </p:cNvSpPr>
          <p:nvPr>
            <p:ph type="title" idx="101" hasCustomPrompt="1"/>
          </p:nvPr>
        </p:nvSpPr>
        <p:spPr>
          <a:xfrm>
            <a:off x="640080" y="320040"/>
            <a:ext cx="10881360" cy="822960"/>
          </a:xfrm>
          <a:prstGeom prst="rect">
            <a:avLst/>
          </a:prstGeom>
          <a:noFill/>
          <a:ln/>
        </p:spPr>
        <p:txBody>
          <a:bodyPr wrap="square" rtlCol="0"/>
          <a:lstStyle>
            <a:lvl1pPr marL="0" indent="0" algn="l">
              <a:buNone/>
              <a:defRPr lang="en-US" sz="3200" dirty="0">
                <a:solidFill>
                  <a:srgbClr val="FFFFFF"/>
                </a:solidFill>
                <a:latin typeface="Avenir Next LT Pro" pitchFamily="34" charset="0"/>
                <a:ea typeface="Avenir Next LT Pro" pitchFamily="34" charset="-122"/>
                <a:cs typeface="Avenir Next LT Pro"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7.png"/><Relationship Id="rId4"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card"/>
          <p:cNvSpPr/>
          <p:nvPr/>
        </p:nvSpPr>
        <p:spPr>
          <a:xfrm>
            <a:off x="548640" y="640080"/>
            <a:ext cx="7132320" cy="5577840"/>
          </a:xfrm>
          <a:prstGeom prst="roundRect">
            <a:avLst>
              <a:gd name="adj" fmla="val 1967"/>
            </a:avLst>
          </a:prstGeom>
          <a:solidFill>
            <a:srgbClr val="201449">
              <a:alpha val="45000"/>
            </a:srgbClr>
          </a:solidFill>
          <a:ln w="9525">
            <a:solidFill>
              <a:srgbClr val="FFFFFF">
                <a:alpha val="40000"/>
              </a:srgbClr>
            </a:solidFill>
            <a:prstDash val="solid"/>
          </a:ln>
        </p:spPr>
      </p:sp>
      <p:sp>
        <p:nvSpPr>
          <p:cNvPr id="7" name="Text 5"/>
          <p:cNvSpPr txBox="1"/>
          <p:nvPr/>
        </p:nvSpPr>
        <p:spPr>
          <a:xfrm>
            <a:off x="2743200" y="1097280"/>
            <a:ext cx="4754880" cy="274320"/>
          </a:xfrm>
          <a:prstGeom prst="rect">
            <a:avLst/>
          </a:prstGeom>
          <a:noFill/>
          <a:ln/>
        </p:spPr>
        <p:txBody>
          <a:bodyPr wrap="square" lIns="0" tIns="0" rIns="0" bIns="0" rtlCol="0" anchor="t"/>
          <a:lstStyle/>
          <a:p>
            <a:pPr marL="0" indent="0">
              <a:buNone/>
            </a:pPr>
            <a:r>
              <a:rPr lang="en-US" sz="1100" b="1" kern="0" spc="200" dirty="0">
                <a:solidFill>
                  <a:srgbClr val="FFFFFF"/>
                </a:solidFill>
                <a:latin typeface="Avenir Next LT Pro" pitchFamily="34" charset="0"/>
                <a:ea typeface="Avenir Next LT Pro" pitchFamily="34" charset="-122"/>
                <a:cs typeface="Avenir Next LT Pro" pitchFamily="34" charset="-120"/>
              </a:rPr>
              <a:t>MCA MINI PROJECT | FINAL PRESENTATION</a:t>
            </a:r>
            <a:endParaRPr lang="en-US" sz="1100" dirty="0"/>
          </a:p>
        </p:txBody>
      </p:sp>
      <p:sp>
        <p:nvSpPr>
          <p:cNvPr id="8" name="Text 6"/>
          <p:cNvSpPr txBox="1"/>
          <p:nvPr/>
        </p:nvSpPr>
        <p:spPr>
          <a:xfrm>
            <a:off x="868680" y="1828800"/>
            <a:ext cx="6583680" cy="1645920"/>
          </a:xfrm>
          <a:prstGeom prst="rect">
            <a:avLst/>
          </a:prstGeom>
          <a:noFill/>
          <a:ln/>
        </p:spPr>
        <p:txBody>
          <a:bodyPr wrap="square" lIns="0" tIns="0" rIns="0" bIns="0" rtlCol="0" anchor="ctr"/>
          <a:lstStyle/>
          <a:p>
            <a:pPr marL="0" indent="0">
              <a:buNone/>
            </a:pPr>
            <a:r>
              <a:rPr lang="en-US" sz="3200" dirty="0">
                <a:solidFill>
                  <a:srgbClr val="FFFFFF"/>
                </a:solidFill>
                <a:latin typeface="Sabon Next LT" pitchFamily="34" charset="0"/>
                <a:ea typeface="Sabon Next LT" pitchFamily="34" charset="-122"/>
                <a:cs typeface="Sabon Next LT" pitchFamily="34" charset="-120"/>
              </a:rPr>
              <a:t>Accident Detection and Alert System Using Smartphone Sensors</a:t>
            </a:r>
            <a:endParaRPr lang="en-US" sz="3200" dirty="0"/>
          </a:p>
        </p:txBody>
      </p:sp>
      <p:sp>
        <p:nvSpPr>
          <p:cNvPr id="9" name="Text 7"/>
          <p:cNvSpPr txBox="1"/>
          <p:nvPr/>
        </p:nvSpPr>
        <p:spPr>
          <a:xfrm>
            <a:off x="868680" y="3703320"/>
            <a:ext cx="3291840" cy="914400"/>
          </a:xfrm>
          <a:prstGeom prst="rect">
            <a:avLst/>
          </a:prstGeom>
          <a:noFill/>
          <a:ln/>
        </p:spPr>
        <p:txBody>
          <a:bodyPr wrap="square" lIns="0" tIns="0" rIns="0" bIns="0" rtlCol="0" anchor="t"/>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STUDENT</a:t>
            </a:r>
            <a:endParaRPr lang="en-US" sz="1400" dirty="0"/>
          </a:p>
          <a:p>
            <a:pPr marL="0" indent="0">
              <a:buNone/>
            </a:pPr>
            <a:r>
              <a:rPr lang="en-US" sz="1500" b="1" dirty="0">
                <a:solidFill>
                  <a:srgbClr val="FFFFFF"/>
                </a:solidFill>
                <a:latin typeface="Avenir Next LT Pro" pitchFamily="34" charset="0"/>
                <a:ea typeface="Avenir Next LT Pro" pitchFamily="34" charset="-122"/>
                <a:cs typeface="Avenir Next LT Pro" pitchFamily="34" charset="-120"/>
              </a:rPr>
              <a:t>Abhishikth S Siby</a:t>
            </a:r>
            <a:endParaRPr lang="en-US" sz="1400" dirty="0"/>
          </a:p>
          <a:p>
            <a:pPr marL="0" indent="0">
              <a:buNone/>
            </a:pPr>
            <a:r>
              <a:rPr lang="en-US" sz="1200" dirty="0">
                <a:solidFill>
                  <a:srgbClr val="FFFFFF"/>
                </a:solidFill>
                <a:latin typeface="Avenir Next LT Pro" pitchFamily="34" charset="0"/>
                <a:ea typeface="Avenir Next LT Pro" pitchFamily="34" charset="-122"/>
                <a:cs typeface="Avenir Next LT Pro" pitchFamily="34" charset="-120"/>
              </a:rPr>
              <a:t>Reg. No. MLM25MCA-2004 | S3 MCA</a:t>
            </a:r>
            <a:endParaRPr lang="en-US" sz="1400" dirty="0"/>
          </a:p>
        </p:txBody>
      </p:sp>
      <p:sp>
        <p:nvSpPr>
          <p:cNvPr id="10" name="Text 8"/>
          <p:cNvSpPr txBox="1"/>
          <p:nvPr/>
        </p:nvSpPr>
        <p:spPr>
          <a:xfrm>
            <a:off x="4251960" y="3703320"/>
            <a:ext cx="3291840" cy="914400"/>
          </a:xfrm>
          <a:prstGeom prst="rect">
            <a:avLst/>
          </a:prstGeom>
          <a:noFill/>
          <a:ln/>
        </p:spPr>
        <p:txBody>
          <a:bodyPr wrap="square" lIns="0" tIns="0" rIns="0" bIns="0" rtlCol="0" anchor="t"/>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GUIDE</a:t>
            </a:r>
            <a:endParaRPr lang="en-US" sz="1400" dirty="0"/>
          </a:p>
          <a:p>
            <a:pPr marL="0" indent="0">
              <a:buNone/>
            </a:pPr>
            <a:r>
              <a:rPr lang="en-US" sz="1500" b="1" dirty="0">
                <a:solidFill>
                  <a:srgbClr val="FFFFFF"/>
                </a:solidFill>
                <a:latin typeface="Avenir Next LT Pro" pitchFamily="34" charset="0"/>
                <a:ea typeface="Avenir Next LT Pro" pitchFamily="34" charset="-122"/>
                <a:cs typeface="Avenir Next LT Pro" pitchFamily="34" charset="-120"/>
              </a:rPr>
              <a:t>Ms. Anju John</a:t>
            </a:r>
            <a:endParaRPr lang="en-US" sz="1400" dirty="0"/>
          </a:p>
          <a:p>
            <a:pPr marL="0" indent="0">
              <a:buNone/>
            </a:pPr>
            <a:r>
              <a:rPr lang="en-US" sz="1200" dirty="0">
                <a:solidFill>
                  <a:srgbClr val="FFFFFF"/>
                </a:solidFill>
                <a:latin typeface="Avenir Next LT Pro" pitchFamily="34" charset="0"/>
                <a:ea typeface="Avenir Next LT Pro" pitchFamily="34" charset="-122"/>
                <a:cs typeface="Avenir Next LT Pro" pitchFamily="34" charset="-120"/>
              </a:rPr>
              <a:t>Assistant Professor, Dept. of Computer Applications</a:t>
            </a:r>
            <a:endParaRPr lang="en-US" sz="1400" dirty="0"/>
          </a:p>
        </p:txBody>
      </p:sp>
      <p:pic>
        <p:nvPicPr>
          <p:cNvPr id="12" name="Cover image top" descr="/home/claude/w/assets/image2.jpeg"/>
          <p:cNvPicPr>
            <a:picLocks noChangeAspect="1"/>
          </p:cNvPicPr>
          <p:nvPr/>
        </p:nvPicPr>
        <p:blipFill>
          <a:blip r:embed="rId3"/>
          <a:stretch>
            <a:fillRect/>
          </a:stretch>
        </p:blipFill>
        <p:spPr>
          <a:xfrm>
            <a:off x="7955280" y="640080"/>
            <a:ext cx="3657600" cy="2057400"/>
          </a:xfrm>
          <a:prstGeom prst="rect">
            <a:avLst/>
          </a:prstGeom>
        </p:spPr>
      </p:pic>
      <p:pic>
        <p:nvPicPr>
          <p:cNvPr id="13" name="Cover image bottom" descr="/home/claude/w/assets/image3.jpeg"/>
          <p:cNvPicPr>
            <a:picLocks noChangeAspect="1"/>
          </p:cNvPicPr>
          <p:nvPr/>
        </p:nvPicPr>
        <p:blipFill>
          <a:blip r:embed="rId4"/>
          <a:stretch>
            <a:fillRect/>
          </a:stretch>
        </p:blipFill>
        <p:spPr>
          <a:xfrm>
            <a:off x="7955280" y="2971800"/>
            <a:ext cx="3657600" cy="25237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Introduction</a:t>
            </a:r>
            <a:endParaRPr lang="en-US" sz="3200" dirty="0"/>
          </a:p>
        </p:txBody>
      </p:sp>
      <p:sp>
        <p:nvSpPr>
          <p:cNvPr id="4" name="Intro card"/>
          <p:cNvSpPr/>
          <p:nvPr/>
        </p:nvSpPr>
        <p:spPr>
          <a:xfrm>
            <a:off x="640080" y="1371600"/>
            <a:ext cx="6400800" cy="4754880"/>
          </a:xfrm>
          <a:prstGeom prst="roundRect">
            <a:avLst>
              <a:gd name="adj" fmla="val 2308"/>
            </a:avLst>
          </a:prstGeom>
          <a:solidFill>
            <a:srgbClr val="201449">
              <a:alpha val="45000"/>
            </a:srgbClr>
          </a:solidFill>
          <a:ln w="9525">
            <a:solidFill>
              <a:srgbClr val="FFFFFF">
                <a:alpha val="40000"/>
              </a:srgbClr>
            </a:solidFill>
            <a:prstDash val="solid"/>
          </a:ln>
        </p:spPr>
      </p:sp>
      <p:sp>
        <p:nvSpPr>
          <p:cNvPr id="5" name="Text 2"/>
          <p:cNvSpPr txBox="1"/>
          <p:nvPr/>
        </p:nvSpPr>
        <p:spPr>
          <a:xfrm>
            <a:off x="914400" y="1554480"/>
            <a:ext cx="5852160" cy="457200"/>
          </a:xfrm>
          <a:prstGeom prst="rect">
            <a:avLst/>
          </a:prstGeom>
          <a:noFill/>
          <a:ln/>
        </p:spPr>
        <p:txBody>
          <a:bodyPr wrap="square" lIns="0" tIns="0" rIns="0" bIns="0" rtlCol="0" anchor="t"/>
          <a:lstStyle/>
          <a:p>
            <a:pPr marL="0" indent="0">
              <a:buNone/>
            </a:pPr>
            <a:r>
              <a:rPr lang="en-US" sz="2000" b="1" dirty="0">
                <a:solidFill>
                  <a:srgbClr val="FFFFFF"/>
                </a:solidFill>
                <a:latin typeface="Avenir Next LT Pro" pitchFamily="34" charset="0"/>
                <a:ea typeface="Avenir Next LT Pro" pitchFamily="34" charset="-122"/>
                <a:cs typeface="Avenir Next LT Pro" pitchFamily="34" charset="-120"/>
              </a:rPr>
              <a:t>The Golden Hour</a:t>
            </a:r>
            <a:endParaRPr lang="en-US" sz="2000" dirty="0"/>
          </a:p>
        </p:txBody>
      </p:sp>
      <p:sp>
        <p:nvSpPr>
          <p:cNvPr id="6" name="Text 3"/>
          <p:cNvSpPr txBox="1"/>
          <p:nvPr/>
        </p:nvSpPr>
        <p:spPr>
          <a:xfrm>
            <a:off x="914400" y="2103120"/>
            <a:ext cx="5852160" cy="3840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Road accidents remain a major safety challenge; the first minutes after impact are critical.</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Victims may be unconscious or trapped and unable to call for help.</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Reporting delay delays medical assistance.</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Smartphones carry accelerometer, gyroscope, GPS and SMS.</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Purpose: automatic detection and location-aware alerting with no extra hardware.</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Importance: low-cost safety aid for riders, drivers and travellers.</a:t>
            </a:r>
            <a:endParaRPr lang="en-US" sz="1400" dirty="0"/>
          </a:p>
        </p:txBody>
      </p:sp>
      <p:pic>
        <p:nvPicPr>
          <p:cNvPr id="7" name="Accident photo" descr="/home/claude/w/assets/image5.jpeg"/>
          <p:cNvPicPr>
            <a:picLocks noChangeAspect="1"/>
          </p:cNvPicPr>
          <p:nvPr/>
        </p:nvPicPr>
        <p:blipFill>
          <a:blip r:embed="rId3"/>
          <a:stretch>
            <a:fillRect/>
          </a:stretch>
        </p:blipFill>
        <p:spPr>
          <a:xfrm>
            <a:off x="7315200" y="1371600"/>
            <a:ext cx="4206240" cy="2807208"/>
          </a:xfrm>
          <a:prstGeom prst="rect">
            <a:avLst/>
          </a:prstGeom>
        </p:spPr>
      </p:pic>
      <p:sp>
        <p:nvSpPr>
          <p:cNvPr id="8" name="Callout"/>
          <p:cNvSpPr/>
          <p:nvPr/>
        </p:nvSpPr>
        <p:spPr>
          <a:xfrm>
            <a:off x="7315200" y="4434840"/>
            <a:ext cx="4206240" cy="1691640"/>
          </a:xfrm>
          <a:prstGeom prst="roundRect">
            <a:avLst>
              <a:gd name="adj" fmla="val 6486"/>
            </a:avLst>
          </a:prstGeom>
          <a:solidFill>
            <a:srgbClr val="FFFFFF">
              <a:alpha val="92000"/>
            </a:srgbClr>
          </a:solidFill>
          <a:ln w="9525">
            <a:solidFill>
              <a:srgbClr val="FFFFFF">
                <a:alpha val="40000"/>
              </a:srgbClr>
            </a:solidFill>
            <a:prstDash val="solid"/>
          </a:ln>
        </p:spPr>
      </p:sp>
      <p:sp>
        <p:nvSpPr>
          <p:cNvPr id="9" name="Text 5"/>
          <p:cNvSpPr txBox="1"/>
          <p:nvPr/>
        </p:nvSpPr>
        <p:spPr>
          <a:xfrm>
            <a:off x="7543800" y="4434840"/>
            <a:ext cx="3749040" cy="1691640"/>
          </a:xfrm>
          <a:prstGeom prst="rect">
            <a:avLst/>
          </a:prstGeom>
          <a:noFill/>
          <a:ln/>
        </p:spPr>
        <p:txBody>
          <a:bodyPr wrap="square" lIns="0" tIns="0" rIns="0" bIns="0" rtlCol="0" anchor="ctr"/>
          <a:lstStyle/>
          <a:p>
            <a:pPr marL="0" indent="0">
              <a:buNone/>
            </a:pPr>
            <a:r>
              <a:rPr lang="en-US" sz="1600" i="1" dirty="0">
                <a:solidFill>
                  <a:srgbClr val="201449"/>
                </a:solidFill>
                <a:latin typeface="Avenir Next LT Pro" pitchFamily="34" charset="0"/>
                <a:ea typeface="Avenir Next LT Pro" pitchFamily="34" charset="-122"/>
                <a:cs typeface="Avenir Next LT Pro" pitchFamily="34" charset="-120"/>
              </a:rPr>
              <a:t>Golden Hour: every minute of reporting delay matters.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Abstract</a:t>
            </a:r>
            <a:endParaRPr lang="en-US" sz="3200" dirty="0"/>
          </a:p>
        </p:txBody>
      </p:sp>
      <p:sp>
        <p:nvSpPr>
          <p:cNvPr id="4" name="Problem"/>
          <p:cNvSpPr/>
          <p:nvPr/>
        </p:nvSpPr>
        <p:spPr>
          <a:xfrm>
            <a:off x="640080" y="1371600"/>
            <a:ext cx="2548890" cy="3108960"/>
          </a:xfrm>
          <a:prstGeom prst="roundRect">
            <a:avLst>
              <a:gd name="adj" fmla="val 4305"/>
            </a:avLst>
          </a:prstGeom>
          <a:solidFill>
            <a:srgbClr val="201449">
              <a:alpha val="45000"/>
            </a:srgbClr>
          </a:solidFill>
          <a:ln w="9525">
            <a:solidFill>
              <a:srgbClr val="FFFFFF">
                <a:alpha val="40000"/>
              </a:srgbClr>
            </a:solidFill>
            <a:prstDash val="solid"/>
          </a:ln>
        </p:spPr>
      </p:sp>
      <p:sp>
        <p:nvSpPr>
          <p:cNvPr id="5" name="Text 2"/>
          <p:cNvSpPr txBox="1"/>
          <p:nvPr/>
        </p:nvSpPr>
        <p:spPr>
          <a:xfrm>
            <a:off x="868680" y="1554480"/>
            <a:ext cx="209169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Problem</a:t>
            </a:r>
            <a:endParaRPr lang="en-US" sz="1700" dirty="0"/>
          </a:p>
        </p:txBody>
      </p:sp>
      <p:sp>
        <p:nvSpPr>
          <p:cNvPr id="6" name="Text 3"/>
          <p:cNvSpPr txBox="1"/>
          <p:nvPr/>
        </p:nvSpPr>
        <p:spPr>
          <a:xfrm>
            <a:off x="868680" y="2103120"/>
            <a:ext cx="209169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Victims may be unable to report accidents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Delay costs critical time</a:t>
            </a:r>
            <a:endParaRPr lang="en-US" sz="1400" dirty="0"/>
          </a:p>
        </p:txBody>
      </p:sp>
      <p:sp>
        <p:nvSpPr>
          <p:cNvPr id="7" name="Solution"/>
          <p:cNvSpPr/>
          <p:nvPr/>
        </p:nvSpPr>
        <p:spPr>
          <a:xfrm>
            <a:off x="3417570" y="1371600"/>
            <a:ext cx="2548890" cy="3108960"/>
          </a:xfrm>
          <a:prstGeom prst="roundRect">
            <a:avLst>
              <a:gd name="adj" fmla="val 4305"/>
            </a:avLst>
          </a:prstGeom>
          <a:solidFill>
            <a:srgbClr val="201449">
              <a:alpha val="45000"/>
            </a:srgbClr>
          </a:solidFill>
          <a:ln w="9525">
            <a:solidFill>
              <a:srgbClr val="FFFFFF">
                <a:alpha val="40000"/>
              </a:srgbClr>
            </a:solidFill>
            <a:prstDash val="solid"/>
          </a:ln>
        </p:spPr>
      </p:sp>
      <p:sp>
        <p:nvSpPr>
          <p:cNvPr id="8" name="Text 5"/>
          <p:cNvSpPr txBox="1"/>
          <p:nvPr/>
        </p:nvSpPr>
        <p:spPr>
          <a:xfrm>
            <a:off x="3646170" y="1554480"/>
            <a:ext cx="209169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Solution</a:t>
            </a:r>
            <a:endParaRPr lang="en-US" sz="1700" dirty="0"/>
          </a:p>
        </p:txBody>
      </p:sp>
      <p:sp>
        <p:nvSpPr>
          <p:cNvPr id="9" name="Text 6"/>
          <p:cNvSpPr txBox="1"/>
          <p:nvPr/>
        </p:nvSpPr>
        <p:spPr>
          <a:xfrm>
            <a:off x="3646170" y="2103120"/>
            <a:ext cx="209169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Flutter-based Android app</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On-device motion monitoring, no server</a:t>
            </a:r>
            <a:endParaRPr lang="en-US" sz="1400" dirty="0"/>
          </a:p>
        </p:txBody>
      </p:sp>
      <p:sp>
        <p:nvSpPr>
          <p:cNvPr id="10" name="Method"/>
          <p:cNvSpPr/>
          <p:nvPr/>
        </p:nvSpPr>
        <p:spPr>
          <a:xfrm>
            <a:off x="6195060" y="1371600"/>
            <a:ext cx="2548890" cy="3108960"/>
          </a:xfrm>
          <a:prstGeom prst="roundRect">
            <a:avLst>
              <a:gd name="adj" fmla="val 4305"/>
            </a:avLst>
          </a:prstGeom>
          <a:solidFill>
            <a:srgbClr val="201449">
              <a:alpha val="45000"/>
            </a:srgbClr>
          </a:solidFill>
          <a:ln w="9525">
            <a:solidFill>
              <a:srgbClr val="FFFFFF">
                <a:alpha val="40000"/>
              </a:srgbClr>
            </a:solidFill>
            <a:prstDash val="solid"/>
          </a:ln>
        </p:spPr>
      </p:sp>
      <p:sp>
        <p:nvSpPr>
          <p:cNvPr id="11" name="Text 8"/>
          <p:cNvSpPr txBox="1"/>
          <p:nvPr/>
        </p:nvSpPr>
        <p:spPr>
          <a:xfrm>
            <a:off x="6423660" y="1554480"/>
            <a:ext cx="209169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Method</a:t>
            </a:r>
            <a:endParaRPr lang="en-US" sz="1700" dirty="0"/>
          </a:p>
        </p:txBody>
      </p:sp>
      <p:sp>
        <p:nvSpPr>
          <p:cNvPr id="12" name="Text 9"/>
          <p:cNvSpPr txBox="1"/>
          <p:nvPr/>
        </p:nvSpPr>
        <p:spPr>
          <a:xfrm>
            <a:off x="6423660" y="2103120"/>
            <a:ext cx="209169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Magnitude from accelerometer</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Window, threshold, spike, cooldown</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Alarm and cancel window, then GPS and SMS</a:t>
            </a:r>
            <a:endParaRPr lang="en-US" sz="1400" dirty="0"/>
          </a:p>
        </p:txBody>
      </p:sp>
      <p:sp>
        <p:nvSpPr>
          <p:cNvPr id="13" name="Outcome"/>
          <p:cNvSpPr/>
          <p:nvPr/>
        </p:nvSpPr>
        <p:spPr>
          <a:xfrm>
            <a:off x="8972550" y="1371600"/>
            <a:ext cx="2548890" cy="3108960"/>
          </a:xfrm>
          <a:prstGeom prst="roundRect">
            <a:avLst>
              <a:gd name="adj" fmla="val 4305"/>
            </a:avLst>
          </a:prstGeom>
          <a:solidFill>
            <a:srgbClr val="FFFFFF">
              <a:alpha val="92000"/>
            </a:srgbClr>
          </a:solidFill>
          <a:ln w="9525">
            <a:solidFill>
              <a:srgbClr val="FFFFFF">
                <a:alpha val="40000"/>
              </a:srgbClr>
            </a:solidFill>
            <a:prstDash val="solid"/>
          </a:ln>
        </p:spPr>
      </p:sp>
      <p:sp>
        <p:nvSpPr>
          <p:cNvPr id="14" name="Text 11"/>
          <p:cNvSpPr txBox="1"/>
          <p:nvPr/>
        </p:nvSpPr>
        <p:spPr>
          <a:xfrm>
            <a:off x="9201150" y="1554480"/>
            <a:ext cx="2091690" cy="411480"/>
          </a:xfrm>
          <a:prstGeom prst="rect">
            <a:avLst/>
          </a:prstGeom>
          <a:noFill/>
          <a:ln/>
        </p:spPr>
        <p:txBody>
          <a:bodyPr wrap="square" lIns="0" tIns="0" rIns="0" bIns="0" rtlCol="0" anchor="t"/>
          <a:lstStyle/>
          <a:p>
            <a:pPr marL="0" indent="0">
              <a:buNone/>
            </a:pPr>
            <a:r>
              <a:rPr lang="en-US" sz="1700" b="1" dirty="0">
                <a:solidFill>
                  <a:srgbClr val="201449"/>
                </a:solidFill>
                <a:latin typeface="Avenir Next LT Pro" pitchFamily="34" charset="0"/>
                <a:ea typeface="Avenir Next LT Pro" pitchFamily="34" charset="-122"/>
                <a:cs typeface="Avenir Next LT Pro" pitchFamily="34" charset="-120"/>
              </a:rPr>
              <a:t>Outcome</a:t>
            </a:r>
            <a:endParaRPr lang="en-US" sz="1700" dirty="0"/>
          </a:p>
        </p:txBody>
      </p:sp>
      <p:sp>
        <p:nvSpPr>
          <p:cNvPr id="15" name="Text 12"/>
          <p:cNvSpPr txBox="1"/>
          <p:nvPr/>
        </p:nvSpPr>
        <p:spPr>
          <a:xfrm>
            <a:off x="9201150" y="2103120"/>
            <a:ext cx="209169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Prototype workflow works end to end</a:t>
            </a:r>
            <a:endParaRPr lang="en-US" sz="1400" dirty="0"/>
          </a:p>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All 20 functional tests passed</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Problem Definition</a:t>
            </a:r>
            <a:endParaRPr lang="en-US" sz="3200" dirty="0"/>
          </a:p>
        </p:txBody>
      </p:sp>
      <p:sp>
        <p:nvSpPr>
          <p:cNvPr id="4" name="Problem card"/>
          <p:cNvSpPr/>
          <p:nvPr/>
        </p:nvSpPr>
        <p:spPr>
          <a:xfrm>
            <a:off x="640080" y="1554480"/>
            <a:ext cx="10881360" cy="4023360"/>
          </a:xfrm>
          <a:prstGeom prst="roundRect">
            <a:avLst>
              <a:gd name="adj" fmla="val 2727"/>
            </a:avLst>
          </a:prstGeom>
          <a:solidFill>
            <a:srgbClr val="201449">
              <a:alpha val="45000"/>
            </a:srgbClr>
          </a:solidFill>
          <a:ln w="9525">
            <a:solidFill>
              <a:srgbClr val="FFFFFF">
                <a:alpha val="40000"/>
              </a:srgbClr>
            </a:solidFill>
            <a:prstDash val="solid"/>
          </a:ln>
        </p:spPr>
      </p:sp>
      <p:sp>
        <p:nvSpPr>
          <p:cNvPr id="5" name="Text 2"/>
          <p:cNvSpPr txBox="1"/>
          <p:nvPr/>
        </p:nvSpPr>
        <p:spPr>
          <a:xfrm>
            <a:off x="1005840" y="1645920"/>
            <a:ext cx="914400" cy="914400"/>
          </a:xfrm>
          <a:prstGeom prst="rect">
            <a:avLst/>
          </a:prstGeom>
          <a:noFill/>
          <a:ln/>
        </p:spPr>
        <p:txBody>
          <a:bodyPr wrap="square" lIns="0" tIns="0" rIns="0" bIns="0" rtlCol="0" anchor="t"/>
          <a:lstStyle/>
          <a:p>
            <a:pPr marL="0" indent="0">
              <a:buNone/>
            </a:pPr>
            <a:r>
              <a:rPr lang="en-US" sz="7000" dirty="0">
                <a:solidFill>
                  <a:srgbClr val="F900A0"/>
                </a:solidFill>
                <a:latin typeface="Sabon Next LT" pitchFamily="34" charset="0"/>
                <a:ea typeface="Sabon Next LT" pitchFamily="34" charset="-122"/>
                <a:cs typeface="Sabon Next LT" pitchFamily="34" charset="-120"/>
              </a:rPr>
              <a:t>“</a:t>
            </a:r>
            <a:endParaRPr lang="en-US" sz="7000" dirty="0"/>
          </a:p>
        </p:txBody>
      </p:sp>
      <p:sp>
        <p:nvSpPr>
          <p:cNvPr id="6" name="Text 3"/>
          <p:cNvSpPr txBox="1"/>
          <p:nvPr/>
        </p:nvSpPr>
        <p:spPr>
          <a:xfrm>
            <a:off x="1371600" y="2286000"/>
            <a:ext cx="9418320" cy="2926080"/>
          </a:xfrm>
          <a:prstGeom prst="rect">
            <a:avLst/>
          </a:prstGeom>
          <a:noFill/>
          <a:ln/>
        </p:spPr>
        <p:txBody>
          <a:bodyPr wrap="square" lIns="0" tIns="0" rIns="0" bIns="0" rtlCol="0" anchor="ctr"/>
          <a:lstStyle/>
          <a:p>
            <a:pPr marL="0" indent="0">
              <a:buNone/>
            </a:pPr>
            <a:r>
              <a:rPr lang="en-US" sz="2400" dirty="0">
                <a:solidFill>
                  <a:srgbClr val="FFFFFF"/>
                </a:solidFill>
                <a:latin typeface="Sabon Next LT" pitchFamily="34" charset="0"/>
                <a:ea typeface="Sabon Next LT" pitchFamily="34" charset="-122"/>
                <a:cs typeface="Sabon Next LT" pitchFamily="34" charset="-120"/>
              </a:rPr>
              <a:t>Victims of serious road accidents may be unable to summon help manually, and existing automatic solutions depend on dedicated hardware or continuous connectivity, creating a need for a low-cost, smartphone-only system that detects accident-like motion and sends a location-aware emergency alert with minimal false notifications.</a:t>
            </a:r>
            <a:endParaRPr lang="en-US" sz="2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Objectives</a:t>
            </a:r>
            <a:endParaRPr lang="en-US" sz="3200" dirty="0"/>
          </a:p>
        </p:txBody>
      </p:sp>
      <p:sp>
        <p:nvSpPr>
          <p:cNvPr id="4" name="Main objective"/>
          <p:cNvSpPr/>
          <p:nvPr/>
        </p:nvSpPr>
        <p:spPr>
          <a:xfrm>
            <a:off x="640080" y="1371600"/>
            <a:ext cx="3474720" cy="4754880"/>
          </a:xfrm>
          <a:prstGeom prst="roundRect">
            <a:avLst>
              <a:gd name="adj" fmla="val 3158"/>
            </a:avLst>
          </a:prstGeom>
          <a:solidFill>
            <a:srgbClr val="201449">
              <a:alpha val="45000"/>
            </a:srgbClr>
          </a:solidFill>
          <a:ln w="9525">
            <a:solidFill>
              <a:srgbClr val="FFFFFF">
                <a:alpha val="40000"/>
              </a:srgbClr>
            </a:solidFill>
            <a:prstDash val="solid"/>
          </a:ln>
        </p:spPr>
      </p:sp>
      <p:sp>
        <p:nvSpPr>
          <p:cNvPr id="6" name="Text 3"/>
          <p:cNvSpPr txBox="1"/>
          <p:nvPr/>
        </p:nvSpPr>
        <p:spPr>
          <a:xfrm>
            <a:off x="868680" y="2103120"/>
            <a:ext cx="3017520" cy="3840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Detect accident-like motion on a smartphone and send a location-aware alert automatically</a:t>
            </a:r>
            <a:endParaRPr lang="en-US" sz="1400" dirty="0"/>
          </a:p>
        </p:txBody>
      </p:sp>
      <p:sp>
        <p:nvSpPr>
          <p:cNvPr id="7" name="Specific objectives"/>
          <p:cNvSpPr/>
          <p:nvPr/>
        </p:nvSpPr>
        <p:spPr>
          <a:xfrm>
            <a:off x="4343400" y="1371600"/>
            <a:ext cx="3474720" cy="4754880"/>
          </a:xfrm>
          <a:prstGeom prst="roundRect">
            <a:avLst>
              <a:gd name="adj" fmla="val 3158"/>
            </a:avLst>
          </a:prstGeom>
          <a:solidFill>
            <a:srgbClr val="201449">
              <a:alpha val="45000"/>
            </a:srgbClr>
          </a:solidFill>
          <a:ln w="9525">
            <a:solidFill>
              <a:srgbClr val="FFFFFF">
                <a:alpha val="40000"/>
              </a:srgbClr>
            </a:solidFill>
            <a:prstDash val="solid"/>
          </a:ln>
        </p:spPr>
      </p:sp>
      <p:sp>
        <p:nvSpPr>
          <p:cNvPr id="9" name="Text 6"/>
          <p:cNvSpPr txBox="1"/>
          <p:nvPr/>
        </p:nvSpPr>
        <p:spPr>
          <a:xfrm>
            <a:off x="4572000" y="2103120"/>
            <a:ext cx="3017520" cy="3840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Store name, blood group and emergency number locally</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ON/OFF detection switch</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Threshold-based motion monitoring</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Alarm with cancel option</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GPS and Maps-link message</a:t>
            </a:r>
            <a:endParaRPr lang="en-US" sz="1400" dirty="0"/>
          </a:p>
        </p:txBody>
      </p:sp>
      <p:sp>
        <p:nvSpPr>
          <p:cNvPr id="10" name="Outcome and benefits"/>
          <p:cNvSpPr/>
          <p:nvPr/>
        </p:nvSpPr>
        <p:spPr>
          <a:xfrm>
            <a:off x="8046720" y="1371600"/>
            <a:ext cx="3474720" cy="4754880"/>
          </a:xfrm>
          <a:prstGeom prst="roundRect">
            <a:avLst>
              <a:gd name="adj" fmla="val 3158"/>
            </a:avLst>
          </a:prstGeom>
          <a:solidFill>
            <a:srgbClr val="FFFFFF">
              <a:alpha val="92000"/>
            </a:srgbClr>
          </a:solidFill>
          <a:ln w="9525">
            <a:solidFill>
              <a:srgbClr val="FFFFFF">
                <a:alpha val="40000"/>
              </a:srgbClr>
            </a:solidFill>
            <a:prstDash val="solid"/>
          </a:ln>
        </p:spPr>
      </p:sp>
      <p:sp>
        <p:nvSpPr>
          <p:cNvPr id="12" name="Text 9"/>
          <p:cNvSpPr txBox="1"/>
          <p:nvPr/>
        </p:nvSpPr>
        <p:spPr>
          <a:xfrm>
            <a:off x="8275320" y="2103120"/>
            <a:ext cx="3017520" cy="3840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Working Android prototype validated by tests</a:t>
            </a:r>
            <a:endParaRPr lang="en-US" sz="1400" dirty="0"/>
          </a:p>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Faster reporting</a:t>
            </a:r>
            <a:endParaRPr lang="en-US" sz="1400" dirty="0"/>
          </a:p>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No extra hardware</a:t>
            </a:r>
            <a:endParaRPr lang="en-US" sz="1400" dirty="0"/>
          </a:p>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Simple to use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Existing System</a:t>
            </a:r>
            <a:endParaRPr lang="en-US" sz="3200" dirty="0"/>
          </a:p>
        </p:txBody>
      </p:sp>
      <p:sp>
        <p:nvSpPr>
          <p:cNvPr id="4" name="Step 1"/>
          <p:cNvSpPr/>
          <p:nvPr/>
        </p:nvSpPr>
        <p:spPr>
          <a:xfrm>
            <a:off x="640080" y="1371600"/>
            <a:ext cx="1956816"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5" name="Text 2"/>
          <p:cNvSpPr txBox="1"/>
          <p:nvPr/>
        </p:nvSpPr>
        <p:spPr>
          <a:xfrm>
            <a:off x="713232" y="1371600"/>
            <a:ext cx="181051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Avenir Next LT Pro" pitchFamily="34" charset="0"/>
                <a:ea typeface="Avenir Next LT Pro" pitchFamily="34" charset="-122"/>
                <a:cs typeface="Avenir Next LT Pro" pitchFamily="34" charset="-120"/>
              </a:rPr>
              <a:t>Accident occurs</a:t>
            </a:r>
            <a:endParaRPr lang="en-US" sz="1200" dirty="0"/>
          </a:p>
        </p:txBody>
      </p:sp>
      <p:sp>
        <p:nvSpPr>
          <p:cNvPr id="6" name="Text 3"/>
          <p:cNvSpPr txBox="1"/>
          <p:nvPr/>
        </p:nvSpPr>
        <p:spPr>
          <a:xfrm>
            <a:off x="2596896"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7" name="Step 2"/>
          <p:cNvSpPr/>
          <p:nvPr/>
        </p:nvSpPr>
        <p:spPr>
          <a:xfrm>
            <a:off x="2871216" y="1371600"/>
            <a:ext cx="1956816"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8" name="Text 5"/>
          <p:cNvSpPr txBox="1"/>
          <p:nvPr/>
        </p:nvSpPr>
        <p:spPr>
          <a:xfrm>
            <a:off x="2944368" y="1371600"/>
            <a:ext cx="181051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Avenir Next LT Pro" pitchFamily="34" charset="0"/>
                <a:ea typeface="Avenir Next LT Pro" pitchFamily="34" charset="-122"/>
                <a:cs typeface="Avenir Next LT Pro" pitchFamily="34" charset="-120"/>
              </a:rPr>
              <a:t>Someone notices</a:t>
            </a:r>
            <a:endParaRPr lang="en-US" sz="1200" dirty="0"/>
          </a:p>
        </p:txBody>
      </p:sp>
      <p:sp>
        <p:nvSpPr>
          <p:cNvPr id="9" name="Text 6"/>
          <p:cNvSpPr txBox="1"/>
          <p:nvPr/>
        </p:nvSpPr>
        <p:spPr>
          <a:xfrm>
            <a:off x="4828032"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0" name="Step 3"/>
          <p:cNvSpPr/>
          <p:nvPr/>
        </p:nvSpPr>
        <p:spPr>
          <a:xfrm>
            <a:off x="5102352" y="1371600"/>
            <a:ext cx="1956816"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1" name="Text 8"/>
          <p:cNvSpPr txBox="1"/>
          <p:nvPr/>
        </p:nvSpPr>
        <p:spPr>
          <a:xfrm>
            <a:off x="5175504" y="1371600"/>
            <a:ext cx="181051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Avenir Next LT Pro" pitchFamily="34" charset="0"/>
                <a:ea typeface="Avenir Next LT Pro" pitchFamily="34" charset="-122"/>
                <a:cs typeface="Avenir Next LT Pro" pitchFamily="34" charset="-120"/>
              </a:rPr>
              <a:t>Calls for help</a:t>
            </a:r>
            <a:endParaRPr lang="en-US" sz="1200" dirty="0"/>
          </a:p>
        </p:txBody>
      </p:sp>
      <p:sp>
        <p:nvSpPr>
          <p:cNvPr id="12" name="Text 9"/>
          <p:cNvSpPr txBox="1"/>
          <p:nvPr/>
        </p:nvSpPr>
        <p:spPr>
          <a:xfrm>
            <a:off x="7059168"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3" name="Step 4"/>
          <p:cNvSpPr/>
          <p:nvPr/>
        </p:nvSpPr>
        <p:spPr>
          <a:xfrm>
            <a:off x="7333488" y="1371600"/>
            <a:ext cx="1956816"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4" name="Text 11"/>
          <p:cNvSpPr txBox="1"/>
          <p:nvPr/>
        </p:nvSpPr>
        <p:spPr>
          <a:xfrm>
            <a:off x="7406640" y="1371600"/>
            <a:ext cx="181051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Avenir Next LT Pro" pitchFamily="34" charset="0"/>
                <a:ea typeface="Avenir Next LT Pro" pitchFamily="34" charset="-122"/>
                <a:cs typeface="Avenir Next LT Pro" pitchFamily="34" charset="-120"/>
              </a:rPr>
              <a:t>Explains location</a:t>
            </a:r>
            <a:endParaRPr lang="en-US" sz="1200" dirty="0"/>
          </a:p>
        </p:txBody>
      </p:sp>
      <p:sp>
        <p:nvSpPr>
          <p:cNvPr id="15" name="Text 12"/>
          <p:cNvSpPr txBox="1"/>
          <p:nvPr/>
        </p:nvSpPr>
        <p:spPr>
          <a:xfrm>
            <a:off x="9290304"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6" name="Step 5"/>
          <p:cNvSpPr/>
          <p:nvPr/>
        </p:nvSpPr>
        <p:spPr>
          <a:xfrm>
            <a:off x="9564624" y="1371600"/>
            <a:ext cx="1956816" cy="868680"/>
          </a:xfrm>
          <a:prstGeom prst="roundRect">
            <a:avLst>
              <a:gd name="adj" fmla="val 12632"/>
            </a:avLst>
          </a:prstGeom>
          <a:solidFill>
            <a:srgbClr val="FFFFFF">
              <a:alpha val="92000"/>
            </a:srgbClr>
          </a:solidFill>
          <a:ln w="9525">
            <a:solidFill>
              <a:srgbClr val="FFFFFF">
                <a:alpha val="40000"/>
              </a:srgbClr>
            </a:solidFill>
            <a:prstDash val="solid"/>
          </a:ln>
        </p:spPr>
      </p:sp>
      <p:sp>
        <p:nvSpPr>
          <p:cNvPr id="17" name="Text 14"/>
          <p:cNvSpPr txBox="1"/>
          <p:nvPr/>
        </p:nvSpPr>
        <p:spPr>
          <a:xfrm>
            <a:off x="9637776" y="1371600"/>
            <a:ext cx="1810512" cy="868680"/>
          </a:xfrm>
          <a:prstGeom prst="rect">
            <a:avLst/>
          </a:prstGeom>
          <a:noFill/>
          <a:ln/>
        </p:spPr>
        <p:txBody>
          <a:bodyPr wrap="square" lIns="0" tIns="0" rIns="0" bIns="0" rtlCol="0" anchor="ctr"/>
          <a:lstStyle/>
          <a:p>
            <a:pPr marL="0" indent="0" algn="ctr">
              <a:buNone/>
            </a:pPr>
            <a:r>
              <a:rPr lang="en-US" sz="1200" b="1" dirty="0">
                <a:solidFill>
                  <a:srgbClr val="201449"/>
                </a:solidFill>
                <a:latin typeface="Avenir Next LT Pro" pitchFamily="34" charset="0"/>
                <a:ea typeface="Avenir Next LT Pro" pitchFamily="34" charset="-122"/>
                <a:cs typeface="Avenir Next LT Pro" pitchFamily="34" charset="-120"/>
              </a:rPr>
              <a:t>Responders contacted</a:t>
            </a:r>
            <a:endParaRPr lang="en-US" sz="1200" dirty="0"/>
          </a:p>
        </p:txBody>
      </p:sp>
      <p:sp>
        <p:nvSpPr>
          <p:cNvPr id="18" name="Problems"/>
          <p:cNvSpPr/>
          <p:nvPr/>
        </p:nvSpPr>
        <p:spPr>
          <a:xfrm>
            <a:off x="640080" y="2514600"/>
            <a:ext cx="3474720" cy="3611880"/>
          </a:xfrm>
          <a:prstGeom prst="roundRect">
            <a:avLst>
              <a:gd name="adj" fmla="val 3158"/>
            </a:avLst>
          </a:prstGeom>
          <a:solidFill>
            <a:srgbClr val="201449">
              <a:alpha val="45000"/>
            </a:srgbClr>
          </a:solidFill>
          <a:ln w="9525">
            <a:solidFill>
              <a:srgbClr val="FFFFFF">
                <a:alpha val="40000"/>
              </a:srgbClr>
            </a:solidFill>
            <a:prstDash val="solid"/>
          </a:ln>
        </p:spPr>
      </p:sp>
      <p:sp>
        <p:nvSpPr>
          <p:cNvPr id="19" name="Text 16"/>
          <p:cNvSpPr txBox="1"/>
          <p:nvPr/>
        </p:nvSpPr>
        <p:spPr>
          <a:xfrm>
            <a:off x="868680" y="2697480"/>
            <a:ext cx="301752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Problems</a:t>
            </a:r>
            <a:endParaRPr lang="en-US" sz="1700" dirty="0"/>
          </a:p>
        </p:txBody>
      </p:sp>
      <p:sp>
        <p:nvSpPr>
          <p:cNvPr id="20" name="Text 17"/>
          <p:cNvSpPr txBox="1"/>
          <p:nvPr/>
        </p:nvSpPr>
        <p:spPr>
          <a:xfrm>
            <a:off x="868680" y="3246120"/>
            <a:ext cx="3017520" cy="2697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Victim may be unconscious or alone</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Location described verbally</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Depends on bystanders</a:t>
            </a:r>
            <a:endParaRPr lang="en-US" sz="1400" dirty="0"/>
          </a:p>
        </p:txBody>
      </p:sp>
      <p:sp>
        <p:nvSpPr>
          <p:cNvPr id="21" name="Limitations"/>
          <p:cNvSpPr/>
          <p:nvPr/>
        </p:nvSpPr>
        <p:spPr>
          <a:xfrm>
            <a:off x="4343400" y="2514600"/>
            <a:ext cx="3474720" cy="3611880"/>
          </a:xfrm>
          <a:prstGeom prst="roundRect">
            <a:avLst>
              <a:gd name="adj" fmla="val 3158"/>
            </a:avLst>
          </a:prstGeom>
          <a:solidFill>
            <a:srgbClr val="201449">
              <a:alpha val="45000"/>
            </a:srgbClr>
          </a:solidFill>
          <a:ln w="9525">
            <a:solidFill>
              <a:srgbClr val="FFFFFF">
                <a:alpha val="40000"/>
              </a:srgbClr>
            </a:solidFill>
            <a:prstDash val="solid"/>
          </a:ln>
        </p:spPr>
      </p:sp>
      <p:sp>
        <p:nvSpPr>
          <p:cNvPr id="22" name="Text 19"/>
          <p:cNvSpPr txBox="1"/>
          <p:nvPr/>
        </p:nvSpPr>
        <p:spPr>
          <a:xfrm>
            <a:off x="4572000" y="2697480"/>
            <a:ext cx="301752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Limitations</a:t>
            </a:r>
            <a:endParaRPr lang="en-US" sz="1700" dirty="0"/>
          </a:p>
        </p:txBody>
      </p:sp>
      <p:sp>
        <p:nvSpPr>
          <p:cNvPr id="23" name="Text 20"/>
          <p:cNvSpPr txBox="1"/>
          <p:nvPr/>
        </p:nvSpPr>
        <p:spPr>
          <a:xfrm>
            <a:off x="4572000" y="3246120"/>
            <a:ext cx="3017520" cy="2697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Hardware systems raise cost, exclude older vehicles and two-wheelers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Cloud systems need connectivity and servers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Basic apps give false positives</a:t>
            </a:r>
            <a:endParaRPr lang="en-US" sz="1400" dirty="0"/>
          </a:p>
        </p:txBody>
      </p:sp>
      <p:sp>
        <p:nvSpPr>
          <p:cNvPr id="24" name="Manual processes"/>
          <p:cNvSpPr/>
          <p:nvPr/>
        </p:nvSpPr>
        <p:spPr>
          <a:xfrm>
            <a:off x="8046720" y="2514600"/>
            <a:ext cx="3474720" cy="3611880"/>
          </a:xfrm>
          <a:prstGeom prst="roundRect">
            <a:avLst>
              <a:gd name="adj" fmla="val 3158"/>
            </a:avLst>
          </a:prstGeom>
          <a:solidFill>
            <a:srgbClr val="FFFFFF">
              <a:alpha val="92000"/>
            </a:srgbClr>
          </a:solidFill>
          <a:ln w="9525">
            <a:solidFill>
              <a:srgbClr val="FFFFFF">
                <a:alpha val="40000"/>
              </a:srgbClr>
            </a:solidFill>
            <a:prstDash val="solid"/>
          </a:ln>
        </p:spPr>
      </p:sp>
      <p:sp>
        <p:nvSpPr>
          <p:cNvPr id="25" name="Text 22"/>
          <p:cNvSpPr txBox="1"/>
          <p:nvPr/>
        </p:nvSpPr>
        <p:spPr>
          <a:xfrm>
            <a:off x="8275320" y="2697480"/>
            <a:ext cx="3017520" cy="411480"/>
          </a:xfrm>
          <a:prstGeom prst="rect">
            <a:avLst/>
          </a:prstGeom>
          <a:noFill/>
          <a:ln/>
        </p:spPr>
        <p:txBody>
          <a:bodyPr wrap="square" lIns="0" tIns="0" rIns="0" bIns="0" rtlCol="0" anchor="t"/>
          <a:lstStyle/>
          <a:p>
            <a:pPr marL="0" indent="0">
              <a:buNone/>
            </a:pPr>
            <a:r>
              <a:rPr lang="en-US" sz="1700" b="1" dirty="0">
                <a:solidFill>
                  <a:srgbClr val="201449"/>
                </a:solidFill>
                <a:latin typeface="Avenir Next LT Pro" pitchFamily="34" charset="0"/>
                <a:ea typeface="Avenir Next LT Pro" pitchFamily="34" charset="-122"/>
                <a:cs typeface="Avenir Next LT Pro" pitchFamily="34" charset="-120"/>
              </a:rPr>
              <a:t>Manual processes</a:t>
            </a:r>
            <a:endParaRPr lang="en-US" sz="1700" dirty="0"/>
          </a:p>
        </p:txBody>
      </p:sp>
      <p:sp>
        <p:nvSpPr>
          <p:cNvPr id="26" name="Text 23"/>
          <p:cNvSpPr txBox="1"/>
          <p:nvPr/>
        </p:nvSpPr>
        <p:spPr>
          <a:xfrm>
            <a:off x="8275320" y="3246120"/>
            <a:ext cx="3017520" cy="2697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Calling responders</a:t>
            </a:r>
            <a:endParaRPr lang="en-US" sz="1400" dirty="0"/>
          </a:p>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Describing the place</a:t>
            </a:r>
            <a:endParaRPr lang="en-US" sz="1400" dirty="0"/>
          </a:p>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Informing relatives</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Proposed System</a:t>
            </a:r>
            <a:endParaRPr lang="en-US" sz="3200" dirty="0"/>
          </a:p>
        </p:txBody>
      </p:sp>
      <p:sp>
        <p:nvSpPr>
          <p:cNvPr id="4" name="Step 1"/>
          <p:cNvSpPr/>
          <p:nvPr/>
        </p:nvSpPr>
        <p:spPr>
          <a:xfrm>
            <a:off x="64008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5" name="Text 2"/>
          <p:cNvSpPr txBox="1"/>
          <p:nvPr/>
        </p:nvSpPr>
        <p:spPr>
          <a:xfrm>
            <a:off x="713232" y="13716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Motion sensors</a:t>
            </a:r>
            <a:endParaRPr lang="en-US" sz="1100" dirty="0"/>
          </a:p>
        </p:txBody>
      </p:sp>
      <p:sp>
        <p:nvSpPr>
          <p:cNvPr id="6" name="Text 3"/>
          <p:cNvSpPr txBox="1"/>
          <p:nvPr/>
        </p:nvSpPr>
        <p:spPr>
          <a:xfrm>
            <a:off x="222504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7" name="Step 2"/>
          <p:cNvSpPr/>
          <p:nvPr/>
        </p:nvSpPr>
        <p:spPr>
          <a:xfrm>
            <a:off x="249936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8" name="Text 5"/>
          <p:cNvSpPr txBox="1"/>
          <p:nvPr/>
        </p:nvSpPr>
        <p:spPr>
          <a:xfrm>
            <a:off x="2572512" y="13716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Threshold detection</a:t>
            </a:r>
            <a:endParaRPr lang="en-US" sz="1100" dirty="0"/>
          </a:p>
        </p:txBody>
      </p:sp>
      <p:sp>
        <p:nvSpPr>
          <p:cNvPr id="9" name="Text 6"/>
          <p:cNvSpPr txBox="1"/>
          <p:nvPr/>
        </p:nvSpPr>
        <p:spPr>
          <a:xfrm>
            <a:off x="408432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0" name="Step 3"/>
          <p:cNvSpPr/>
          <p:nvPr/>
        </p:nvSpPr>
        <p:spPr>
          <a:xfrm>
            <a:off x="435864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1" name="Text 8"/>
          <p:cNvSpPr txBox="1"/>
          <p:nvPr/>
        </p:nvSpPr>
        <p:spPr>
          <a:xfrm>
            <a:off x="4431792" y="13716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Alarm + cancel</a:t>
            </a:r>
            <a:endParaRPr lang="en-US" sz="1100" dirty="0"/>
          </a:p>
        </p:txBody>
      </p:sp>
      <p:sp>
        <p:nvSpPr>
          <p:cNvPr id="12" name="Text 9"/>
          <p:cNvSpPr txBox="1"/>
          <p:nvPr/>
        </p:nvSpPr>
        <p:spPr>
          <a:xfrm>
            <a:off x="594360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3" name="Step 4"/>
          <p:cNvSpPr/>
          <p:nvPr/>
        </p:nvSpPr>
        <p:spPr>
          <a:xfrm>
            <a:off x="621792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4" name="Text 11"/>
          <p:cNvSpPr txBox="1"/>
          <p:nvPr/>
        </p:nvSpPr>
        <p:spPr>
          <a:xfrm>
            <a:off x="6291072" y="13716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GPS fix</a:t>
            </a:r>
            <a:endParaRPr lang="en-US" sz="1100" dirty="0"/>
          </a:p>
        </p:txBody>
      </p:sp>
      <p:sp>
        <p:nvSpPr>
          <p:cNvPr id="15" name="Text 12"/>
          <p:cNvSpPr txBox="1"/>
          <p:nvPr/>
        </p:nvSpPr>
        <p:spPr>
          <a:xfrm>
            <a:off x="780288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6" name="Step 5"/>
          <p:cNvSpPr/>
          <p:nvPr/>
        </p:nvSpPr>
        <p:spPr>
          <a:xfrm>
            <a:off x="807720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7" name="Text 14"/>
          <p:cNvSpPr txBox="1"/>
          <p:nvPr/>
        </p:nvSpPr>
        <p:spPr>
          <a:xfrm>
            <a:off x="8150352" y="13716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SMS + Maps link</a:t>
            </a:r>
            <a:endParaRPr lang="en-US" sz="1100" dirty="0"/>
          </a:p>
        </p:txBody>
      </p:sp>
      <p:sp>
        <p:nvSpPr>
          <p:cNvPr id="18" name="Text 15"/>
          <p:cNvSpPr txBox="1"/>
          <p:nvPr/>
        </p:nvSpPr>
        <p:spPr>
          <a:xfrm>
            <a:off x="966216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9" name="Step 6"/>
          <p:cNvSpPr/>
          <p:nvPr/>
        </p:nvSpPr>
        <p:spPr>
          <a:xfrm>
            <a:off x="9936480" y="1371600"/>
            <a:ext cx="1584960" cy="868680"/>
          </a:xfrm>
          <a:prstGeom prst="roundRect">
            <a:avLst>
              <a:gd name="adj" fmla="val 12632"/>
            </a:avLst>
          </a:prstGeom>
          <a:solidFill>
            <a:srgbClr val="FFFFFF">
              <a:alpha val="92000"/>
            </a:srgbClr>
          </a:solidFill>
          <a:ln w="9525">
            <a:solidFill>
              <a:srgbClr val="FFFFFF">
                <a:alpha val="40000"/>
              </a:srgbClr>
            </a:solidFill>
            <a:prstDash val="solid"/>
          </a:ln>
        </p:spPr>
      </p:sp>
      <p:sp>
        <p:nvSpPr>
          <p:cNvPr id="20" name="Text 17"/>
          <p:cNvSpPr txBox="1"/>
          <p:nvPr/>
        </p:nvSpPr>
        <p:spPr>
          <a:xfrm>
            <a:off x="10009632" y="1371600"/>
            <a:ext cx="1438656" cy="868680"/>
          </a:xfrm>
          <a:prstGeom prst="rect">
            <a:avLst/>
          </a:prstGeom>
          <a:noFill/>
          <a:ln/>
        </p:spPr>
        <p:txBody>
          <a:bodyPr wrap="square" lIns="0" tIns="0" rIns="0" bIns="0" rtlCol="0" anchor="ctr"/>
          <a:lstStyle/>
          <a:p>
            <a:pPr marL="0" indent="0" algn="ctr">
              <a:buNone/>
            </a:pPr>
            <a:r>
              <a:rPr lang="en-US" sz="1100" b="1" dirty="0">
                <a:solidFill>
                  <a:srgbClr val="201449"/>
                </a:solidFill>
                <a:latin typeface="Avenir Next LT Pro" pitchFamily="34" charset="0"/>
                <a:ea typeface="Avenir Next LT Pro" pitchFamily="34" charset="-122"/>
                <a:cs typeface="Avenir Next LT Pro" pitchFamily="34" charset="-120"/>
              </a:rPr>
              <a:t>Emergency contact</a:t>
            </a:r>
            <a:endParaRPr lang="en-US" sz="1100" dirty="0"/>
          </a:p>
        </p:txBody>
      </p:sp>
      <p:sp>
        <p:nvSpPr>
          <p:cNvPr id="21" name="How it solves it"/>
          <p:cNvSpPr/>
          <p:nvPr/>
        </p:nvSpPr>
        <p:spPr>
          <a:xfrm>
            <a:off x="640080" y="2514600"/>
            <a:ext cx="3474720" cy="3611880"/>
          </a:xfrm>
          <a:prstGeom prst="roundRect">
            <a:avLst>
              <a:gd name="adj" fmla="val 3158"/>
            </a:avLst>
          </a:prstGeom>
          <a:solidFill>
            <a:srgbClr val="201449">
              <a:alpha val="45000"/>
            </a:srgbClr>
          </a:solidFill>
          <a:ln w="9525">
            <a:solidFill>
              <a:srgbClr val="FFFFFF">
                <a:alpha val="40000"/>
              </a:srgbClr>
            </a:solidFill>
            <a:prstDash val="solid"/>
          </a:ln>
        </p:spPr>
      </p:sp>
      <p:sp>
        <p:nvSpPr>
          <p:cNvPr id="22" name="Text 19"/>
          <p:cNvSpPr txBox="1"/>
          <p:nvPr/>
        </p:nvSpPr>
        <p:spPr>
          <a:xfrm>
            <a:off x="868680" y="2697480"/>
            <a:ext cx="301752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How it solves it</a:t>
            </a:r>
            <a:endParaRPr lang="en-US" sz="1700" dirty="0"/>
          </a:p>
        </p:txBody>
      </p:sp>
      <p:sp>
        <p:nvSpPr>
          <p:cNvPr id="23" name="Text 20"/>
          <p:cNvSpPr txBox="1"/>
          <p:nvPr/>
        </p:nvSpPr>
        <p:spPr>
          <a:xfrm>
            <a:off x="868680" y="3246120"/>
            <a:ext cx="3017520" cy="2697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Detects abnormal motion automatically</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User can cancel false alerts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Fetches GPS and prepares SMS on timeout</a:t>
            </a:r>
            <a:endParaRPr lang="en-US" sz="1400" dirty="0"/>
          </a:p>
        </p:txBody>
      </p:sp>
      <p:sp>
        <p:nvSpPr>
          <p:cNvPr id="24" name="Key features"/>
          <p:cNvSpPr/>
          <p:nvPr/>
        </p:nvSpPr>
        <p:spPr>
          <a:xfrm>
            <a:off x="4343400" y="2514600"/>
            <a:ext cx="3474720" cy="3611880"/>
          </a:xfrm>
          <a:prstGeom prst="roundRect">
            <a:avLst>
              <a:gd name="adj" fmla="val 3158"/>
            </a:avLst>
          </a:prstGeom>
          <a:solidFill>
            <a:srgbClr val="201449">
              <a:alpha val="45000"/>
            </a:srgbClr>
          </a:solidFill>
          <a:ln w="9525">
            <a:solidFill>
              <a:srgbClr val="FFFFFF">
                <a:alpha val="40000"/>
              </a:srgbClr>
            </a:solidFill>
            <a:prstDash val="solid"/>
          </a:ln>
        </p:spPr>
      </p:sp>
      <p:sp>
        <p:nvSpPr>
          <p:cNvPr id="25" name="Text 22"/>
          <p:cNvSpPr txBox="1"/>
          <p:nvPr/>
        </p:nvSpPr>
        <p:spPr>
          <a:xfrm>
            <a:off x="4572000" y="2697480"/>
            <a:ext cx="301752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Key features</a:t>
            </a:r>
            <a:endParaRPr lang="en-US" sz="1700" dirty="0"/>
          </a:p>
        </p:txBody>
      </p:sp>
      <p:sp>
        <p:nvSpPr>
          <p:cNvPr id="26" name="Text 23"/>
          <p:cNvSpPr txBox="1"/>
          <p:nvPr/>
        </p:nvSpPr>
        <p:spPr>
          <a:xfrm>
            <a:off x="4572000" y="3246120"/>
            <a:ext cx="3017520" cy="2697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Name, blood group, Maps link</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Local storage</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Cooldown against repeats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Unsent-message fallback</a:t>
            </a:r>
            <a:endParaRPr lang="en-US" sz="1400" dirty="0"/>
          </a:p>
        </p:txBody>
      </p:sp>
      <p:sp>
        <p:nvSpPr>
          <p:cNvPr id="27" name="Improvements"/>
          <p:cNvSpPr/>
          <p:nvPr/>
        </p:nvSpPr>
        <p:spPr>
          <a:xfrm>
            <a:off x="8046720" y="2514600"/>
            <a:ext cx="3474720" cy="3611880"/>
          </a:xfrm>
          <a:prstGeom prst="roundRect">
            <a:avLst>
              <a:gd name="adj" fmla="val 3158"/>
            </a:avLst>
          </a:prstGeom>
          <a:solidFill>
            <a:srgbClr val="FFFFFF">
              <a:alpha val="92000"/>
            </a:srgbClr>
          </a:solidFill>
          <a:ln w="9525">
            <a:solidFill>
              <a:srgbClr val="FFFFFF">
                <a:alpha val="40000"/>
              </a:srgbClr>
            </a:solidFill>
            <a:prstDash val="solid"/>
          </a:ln>
        </p:spPr>
      </p:sp>
      <p:sp>
        <p:nvSpPr>
          <p:cNvPr id="28" name="Text 25"/>
          <p:cNvSpPr txBox="1"/>
          <p:nvPr/>
        </p:nvSpPr>
        <p:spPr>
          <a:xfrm>
            <a:off x="8275320" y="2697480"/>
            <a:ext cx="3017520" cy="411480"/>
          </a:xfrm>
          <a:prstGeom prst="rect">
            <a:avLst/>
          </a:prstGeom>
          <a:noFill/>
          <a:ln/>
        </p:spPr>
        <p:txBody>
          <a:bodyPr wrap="square" lIns="0" tIns="0" rIns="0" bIns="0" rtlCol="0" anchor="t"/>
          <a:lstStyle/>
          <a:p>
            <a:pPr marL="0" indent="0">
              <a:buNone/>
            </a:pPr>
            <a:r>
              <a:rPr lang="en-US" sz="1700" b="1" dirty="0">
                <a:solidFill>
                  <a:srgbClr val="201449"/>
                </a:solidFill>
                <a:latin typeface="Avenir Next LT Pro" pitchFamily="34" charset="0"/>
                <a:ea typeface="Avenir Next LT Pro" pitchFamily="34" charset="-122"/>
                <a:cs typeface="Avenir Next LT Pro" pitchFamily="34" charset="-120"/>
              </a:rPr>
              <a:t>Improvements</a:t>
            </a:r>
            <a:endParaRPr lang="en-US" sz="1700" dirty="0"/>
          </a:p>
        </p:txBody>
      </p:sp>
      <p:sp>
        <p:nvSpPr>
          <p:cNvPr id="29" name="Text 26"/>
          <p:cNvSpPr txBox="1"/>
          <p:nvPr/>
        </p:nvSpPr>
        <p:spPr>
          <a:xfrm>
            <a:off x="8275320" y="3246120"/>
            <a:ext cx="3017520" cy="2697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No extra hardware</a:t>
            </a:r>
            <a:endParaRPr lang="en-US" sz="1400" dirty="0"/>
          </a:p>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No server</a:t>
            </a:r>
            <a:endParaRPr lang="en-US" sz="1400" dirty="0"/>
          </a:p>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No mobile data needed for core flow</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Scope of the Project</a:t>
            </a:r>
            <a:endParaRPr lang="en-US" sz="3200" dirty="0"/>
          </a:p>
        </p:txBody>
      </p:sp>
      <p:sp>
        <p:nvSpPr>
          <p:cNvPr id="4" name="Target users"/>
          <p:cNvSpPr/>
          <p:nvPr/>
        </p:nvSpPr>
        <p:spPr>
          <a:xfrm>
            <a:off x="640080" y="1371600"/>
            <a:ext cx="2548890" cy="4754880"/>
          </a:xfrm>
          <a:prstGeom prst="roundRect">
            <a:avLst>
              <a:gd name="adj" fmla="val 4305"/>
            </a:avLst>
          </a:prstGeom>
          <a:solidFill>
            <a:srgbClr val="201449">
              <a:alpha val="45000"/>
            </a:srgbClr>
          </a:solidFill>
          <a:ln w="9525">
            <a:solidFill>
              <a:srgbClr val="FFFFFF">
                <a:alpha val="40000"/>
              </a:srgbClr>
            </a:solidFill>
            <a:prstDash val="solid"/>
          </a:ln>
        </p:spPr>
      </p:sp>
      <p:sp>
        <p:nvSpPr>
          <p:cNvPr id="5" name="Text 2"/>
          <p:cNvSpPr txBox="1"/>
          <p:nvPr/>
        </p:nvSpPr>
        <p:spPr>
          <a:xfrm>
            <a:off x="868680" y="1554480"/>
            <a:ext cx="209169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Target users</a:t>
            </a:r>
            <a:endParaRPr lang="en-US" sz="1700" dirty="0"/>
          </a:p>
        </p:txBody>
      </p:sp>
      <p:sp>
        <p:nvSpPr>
          <p:cNvPr id="6" name="Text 3"/>
          <p:cNvSpPr txBox="1"/>
          <p:nvPr/>
        </p:nvSpPr>
        <p:spPr>
          <a:xfrm>
            <a:off x="868680" y="2103120"/>
            <a:ext cx="2091690" cy="3840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Drivers and passengers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Two-wheeler riders, cyclists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Remote-area travellers</a:t>
            </a:r>
            <a:endParaRPr lang="en-US" sz="1400" dirty="0"/>
          </a:p>
        </p:txBody>
      </p:sp>
      <p:sp>
        <p:nvSpPr>
          <p:cNvPr id="7" name="Functional coverage"/>
          <p:cNvSpPr/>
          <p:nvPr/>
        </p:nvSpPr>
        <p:spPr>
          <a:xfrm>
            <a:off x="3417570" y="1371600"/>
            <a:ext cx="2548890" cy="4754880"/>
          </a:xfrm>
          <a:prstGeom prst="roundRect">
            <a:avLst>
              <a:gd name="adj" fmla="val 4305"/>
            </a:avLst>
          </a:prstGeom>
          <a:solidFill>
            <a:srgbClr val="201449">
              <a:alpha val="45000"/>
            </a:srgbClr>
          </a:solidFill>
          <a:ln w="9525">
            <a:solidFill>
              <a:srgbClr val="FFFFFF">
                <a:alpha val="40000"/>
              </a:srgbClr>
            </a:solidFill>
            <a:prstDash val="solid"/>
          </a:ln>
        </p:spPr>
      </p:sp>
      <p:sp>
        <p:nvSpPr>
          <p:cNvPr id="8" name="Text 5"/>
          <p:cNvSpPr txBox="1"/>
          <p:nvPr/>
        </p:nvSpPr>
        <p:spPr>
          <a:xfrm>
            <a:off x="3646170" y="1554480"/>
            <a:ext cx="209169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Functional coverage</a:t>
            </a:r>
            <a:endParaRPr lang="en-US" sz="1700" dirty="0"/>
          </a:p>
        </p:txBody>
      </p:sp>
      <p:sp>
        <p:nvSpPr>
          <p:cNvPr id="9" name="Text 6"/>
          <p:cNvSpPr txBox="1"/>
          <p:nvPr/>
        </p:nvSpPr>
        <p:spPr>
          <a:xfrm>
            <a:off x="3646170" y="2103120"/>
            <a:ext cx="2091690" cy="3840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Details storage</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Detection toggle</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Motion monitoring</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Alarm and cancel</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GPS and SMS</a:t>
            </a:r>
            <a:endParaRPr lang="en-US" sz="1400" dirty="0"/>
          </a:p>
        </p:txBody>
      </p:sp>
      <p:sp>
        <p:nvSpPr>
          <p:cNvPr id="10" name="Included / excluded"/>
          <p:cNvSpPr/>
          <p:nvPr/>
        </p:nvSpPr>
        <p:spPr>
          <a:xfrm>
            <a:off x="6195060" y="1371600"/>
            <a:ext cx="2548890" cy="4754880"/>
          </a:xfrm>
          <a:prstGeom prst="roundRect">
            <a:avLst>
              <a:gd name="adj" fmla="val 4305"/>
            </a:avLst>
          </a:prstGeom>
          <a:solidFill>
            <a:srgbClr val="FFFFFF">
              <a:alpha val="92000"/>
            </a:srgbClr>
          </a:solidFill>
          <a:ln w="9525">
            <a:solidFill>
              <a:srgbClr val="FFFFFF">
                <a:alpha val="40000"/>
              </a:srgbClr>
            </a:solidFill>
            <a:prstDash val="solid"/>
          </a:ln>
        </p:spPr>
      </p:sp>
      <p:sp>
        <p:nvSpPr>
          <p:cNvPr id="11" name="Text 8"/>
          <p:cNvSpPr txBox="1"/>
          <p:nvPr/>
        </p:nvSpPr>
        <p:spPr>
          <a:xfrm>
            <a:off x="6423660" y="1554480"/>
            <a:ext cx="2091690" cy="411480"/>
          </a:xfrm>
          <a:prstGeom prst="rect">
            <a:avLst/>
          </a:prstGeom>
          <a:noFill/>
          <a:ln/>
        </p:spPr>
        <p:txBody>
          <a:bodyPr wrap="square" lIns="0" tIns="0" rIns="0" bIns="0" rtlCol="0" anchor="t"/>
          <a:lstStyle/>
          <a:p>
            <a:pPr marL="0" indent="0">
              <a:buNone/>
            </a:pPr>
            <a:r>
              <a:rPr lang="en-US" sz="1700" b="1" dirty="0">
                <a:solidFill>
                  <a:srgbClr val="201449"/>
                </a:solidFill>
                <a:latin typeface="Avenir Next LT Pro" pitchFamily="34" charset="0"/>
                <a:ea typeface="Avenir Next LT Pro" pitchFamily="34" charset="-122"/>
                <a:cs typeface="Avenir Next LT Pro" pitchFamily="34" charset="-120"/>
              </a:rPr>
              <a:t>Included / excluded</a:t>
            </a:r>
            <a:endParaRPr lang="en-US" sz="1700" dirty="0"/>
          </a:p>
        </p:txBody>
      </p:sp>
      <p:sp>
        <p:nvSpPr>
          <p:cNvPr id="12" name="Text 9"/>
          <p:cNvSpPr txBox="1"/>
          <p:nvPr/>
        </p:nvSpPr>
        <p:spPr>
          <a:xfrm>
            <a:off x="6423660" y="2103120"/>
            <a:ext cx="2091690" cy="3840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Included: Android prototype</a:t>
            </a:r>
            <a:endParaRPr lang="en-US" sz="1400" dirty="0"/>
          </a:p>
          <a:p>
            <a:pPr marL="177800" indent="-177800">
              <a:spcAft>
                <a:spcPts val="500"/>
              </a:spcAft>
              <a:buSzPct val="100000"/>
              <a:buChar char="•"/>
            </a:pPr>
            <a:r>
              <a:rPr lang="en-US" sz="1300" dirty="0">
                <a:solidFill>
                  <a:srgbClr val="201449"/>
                </a:solidFill>
                <a:latin typeface="Avenir Next LT Pro" pitchFamily="34" charset="0"/>
                <a:ea typeface="Avenir Next LT Pro" pitchFamily="34" charset="-122"/>
                <a:cs typeface="Avenir Next LT Pro" pitchFamily="34" charset="-120"/>
              </a:rPr>
              <a:t>Excluded: certified crash hardware, dispatch integration</a:t>
            </a:r>
            <a:endParaRPr lang="en-US" sz="1400" dirty="0"/>
          </a:p>
        </p:txBody>
      </p:sp>
      <p:sp>
        <p:nvSpPr>
          <p:cNvPr id="13" name="Future uses"/>
          <p:cNvSpPr/>
          <p:nvPr/>
        </p:nvSpPr>
        <p:spPr>
          <a:xfrm>
            <a:off x="8972550" y="1371600"/>
            <a:ext cx="2548890" cy="4754880"/>
          </a:xfrm>
          <a:prstGeom prst="roundRect">
            <a:avLst>
              <a:gd name="adj" fmla="val 4305"/>
            </a:avLst>
          </a:prstGeom>
          <a:solidFill>
            <a:srgbClr val="201449">
              <a:alpha val="45000"/>
            </a:srgbClr>
          </a:solidFill>
          <a:ln w="9525">
            <a:solidFill>
              <a:srgbClr val="FFFFFF">
                <a:alpha val="40000"/>
              </a:srgbClr>
            </a:solidFill>
            <a:prstDash val="solid"/>
          </a:ln>
        </p:spPr>
      </p:sp>
      <p:sp>
        <p:nvSpPr>
          <p:cNvPr id="14" name="Text 11"/>
          <p:cNvSpPr txBox="1"/>
          <p:nvPr/>
        </p:nvSpPr>
        <p:spPr>
          <a:xfrm>
            <a:off x="9201150" y="1554480"/>
            <a:ext cx="209169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Future uses</a:t>
            </a:r>
            <a:endParaRPr lang="en-US" sz="1700" dirty="0"/>
          </a:p>
        </p:txBody>
      </p:sp>
      <p:sp>
        <p:nvSpPr>
          <p:cNvPr id="15" name="Text 12"/>
          <p:cNvSpPr txBox="1"/>
          <p:nvPr/>
        </p:nvSpPr>
        <p:spPr>
          <a:xfrm>
            <a:off x="9201150" y="2103120"/>
            <a:ext cx="2091690" cy="3840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ML classification</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Wearables</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Fleet safety</a:t>
            </a:r>
            <a:endParaRPr lang="en-US" sz="1400" dirty="0"/>
          </a:p>
          <a:p>
            <a:pPr marL="177800" indent="-177800">
              <a:spcAft>
                <a:spcPts val="500"/>
              </a:spcAft>
              <a:buSzPct val="100000"/>
              <a:buChar char="•"/>
            </a:pPr>
            <a:r>
              <a:rPr lang="en-US" sz="1300" dirty="0">
                <a:solidFill>
                  <a:srgbClr val="FFFFFF"/>
                </a:solidFill>
                <a:latin typeface="Avenir Next LT Pro" pitchFamily="34" charset="0"/>
                <a:ea typeface="Avenir Next LT Pro" pitchFamily="34" charset="-122"/>
                <a:cs typeface="Avenir Next LT Pro" pitchFamily="34" charset="-120"/>
              </a:rPr>
              <a:t>Smart-city response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Literature Review</a:t>
            </a: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9</a:t>
            </a:fld>
            <a:endParaRPr lang="en-US"/>
          </a:p>
        </p:txBody>
      </p:sp>
      <p:pic>
        <p:nvPicPr>
          <p:cNvPr id="6" name="Picture 5">
            <a:extLst>
              <a:ext uri="{FF2B5EF4-FFF2-40B4-BE49-F238E27FC236}">
                <a16:creationId xmlns:a16="http://schemas.microsoft.com/office/drawing/2014/main" id="{CB9080B1-9D39-AA0A-F83A-5DBF2BCD5207}"/>
              </a:ext>
            </a:extLst>
          </p:cNvPr>
          <p:cNvPicPr>
            <a:picLocks noChangeAspect="1"/>
          </p:cNvPicPr>
          <p:nvPr/>
        </p:nvPicPr>
        <p:blipFill>
          <a:blip r:embed="rId3"/>
          <a:stretch>
            <a:fillRect/>
          </a:stretch>
        </p:blipFill>
        <p:spPr>
          <a:xfrm>
            <a:off x="0" y="1216151"/>
            <a:ext cx="12192000" cy="47274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Technologies Used</a:t>
            </a:r>
            <a:endParaRPr lang="en-US" sz="3200" dirty="0"/>
          </a:p>
        </p:txBody>
      </p:sp>
      <p:sp>
        <p:nvSpPr>
          <p:cNvPr id="4" name="Flutter SDK"/>
          <p:cNvSpPr/>
          <p:nvPr/>
        </p:nvSpPr>
        <p:spPr>
          <a:xfrm>
            <a:off x="640080" y="1371600"/>
            <a:ext cx="3474720" cy="1417320"/>
          </a:xfrm>
          <a:prstGeom prst="roundRect">
            <a:avLst>
              <a:gd name="adj" fmla="val 7742"/>
            </a:avLst>
          </a:prstGeom>
          <a:solidFill>
            <a:srgbClr val="FFFFFF">
              <a:alpha val="92000"/>
            </a:srgbClr>
          </a:solidFill>
          <a:ln w="9525">
            <a:solidFill>
              <a:srgbClr val="FFFFFF">
                <a:alpha val="40000"/>
              </a:srgbClr>
            </a:solidFill>
            <a:prstDash val="solid"/>
          </a:ln>
        </p:spPr>
      </p:sp>
      <p:sp>
        <p:nvSpPr>
          <p:cNvPr id="5" name="Text 2"/>
          <p:cNvSpPr txBox="1"/>
          <p:nvPr/>
        </p:nvSpPr>
        <p:spPr>
          <a:xfrm>
            <a:off x="914400" y="1600200"/>
            <a:ext cx="3017520" cy="457200"/>
          </a:xfrm>
          <a:prstGeom prst="rect">
            <a:avLst/>
          </a:prstGeom>
          <a:noFill/>
          <a:ln/>
        </p:spPr>
        <p:txBody>
          <a:bodyPr wrap="square" lIns="0" tIns="0" rIns="0" bIns="0" rtlCol="0" anchor="t"/>
          <a:lstStyle/>
          <a:p>
            <a:pPr marL="0" indent="0">
              <a:buNone/>
            </a:pPr>
            <a:r>
              <a:rPr lang="en-US" sz="1600" b="1" dirty="0">
                <a:solidFill>
                  <a:srgbClr val="201449"/>
                </a:solidFill>
                <a:latin typeface="Avenir Next LT Pro" pitchFamily="34" charset="0"/>
                <a:ea typeface="Avenir Next LT Pro" pitchFamily="34" charset="-122"/>
                <a:cs typeface="Avenir Next LT Pro" pitchFamily="34" charset="-120"/>
              </a:rPr>
              <a:t>Flutter SDK</a:t>
            </a:r>
            <a:endParaRPr lang="en-US" sz="1600" dirty="0"/>
          </a:p>
        </p:txBody>
      </p:sp>
      <p:sp>
        <p:nvSpPr>
          <p:cNvPr id="6" name="Text 3"/>
          <p:cNvSpPr txBox="1"/>
          <p:nvPr/>
        </p:nvSpPr>
        <p:spPr>
          <a:xfrm>
            <a:off x="914400" y="2148840"/>
            <a:ext cx="3017520" cy="457200"/>
          </a:xfrm>
          <a:prstGeom prst="rect">
            <a:avLst/>
          </a:prstGeom>
          <a:noFill/>
          <a:ln/>
        </p:spPr>
        <p:txBody>
          <a:bodyPr wrap="square" lIns="0" tIns="0" rIns="0" bIns="0" rtlCol="0" anchor="t"/>
          <a:lstStyle/>
          <a:p>
            <a:pPr marL="0" indent="0">
              <a:buNone/>
            </a:pPr>
            <a:r>
              <a:rPr lang="en-US" sz="1300" dirty="0">
                <a:solidFill>
                  <a:srgbClr val="454B78"/>
                </a:solidFill>
                <a:latin typeface="Avenir Next LT Pro" pitchFamily="34" charset="0"/>
                <a:ea typeface="Avenir Next LT Pro" pitchFamily="34" charset="-122"/>
                <a:cs typeface="Avenir Next LT Pro" pitchFamily="34" charset="-120"/>
              </a:rPr>
              <a:t>Cross-platform UI framework</a:t>
            </a:r>
            <a:endParaRPr lang="en-US" sz="1300" dirty="0"/>
          </a:p>
        </p:txBody>
      </p:sp>
      <p:sp>
        <p:nvSpPr>
          <p:cNvPr id="7" name="Dart"/>
          <p:cNvSpPr/>
          <p:nvPr/>
        </p:nvSpPr>
        <p:spPr>
          <a:xfrm>
            <a:off x="4343400" y="1371600"/>
            <a:ext cx="3474720" cy="1417320"/>
          </a:xfrm>
          <a:prstGeom prst="roundRect">
            <a:avLst>
              <a:gd name="adj" fmla="val 7742"/>
            </a:avLst>
          </a:prstGeom>
          <a:solidFill>
            <a:srgbClr val="FFFFFF">
              <a:alpha val="92000"/>
            </a:srgbClr>
          </a:solidFill>
          <a:ln w="9525">
            <a:solidFill>
              <a:srgbClr val="FFFFFF">
                <a:alpha val="40000"/>
              </a:srgbClr>
            </a:solidFill>
            <a:prstDash val="solid"/>
          </a:ln>
        </p:spPr>
      </p:sp>
      <p:sp>
        <p:nvSpPr>
          <p:cNvPr id="8" name="Text 5"/>
          <p:cNvSpPr txBox="1"/>
          <p:nvPr/>
        </p:nvSpPr>
        <p:spPr>
          <a:xfrm>
            <a:off x="4617720" y="1600200"/>
            <a:ext cx="3017520" cy="457200"/>
          </a:xfrm>
          <a:prstGeom prst="rect">
            <a:avLst/>
          </a:prstGeom>
          <a:noFill/>
          <a:ln/>
        </p:spPr>
        <p:txBody>
          <a:bodyPr wrap="square" lIns="0" tIns="0" rIns="0" bIns="0" rtlCol="0" anchor="t"/>
          <a:lstStyle/>
          <a:p>
            <a:pPr marL="0" indent="0">
              <a:buNone/>
            </a:pPr>
            <a:r>
              <a:rPr lang="en-US" sz="1600" b="1" dirty="0">
                <a:solidFill>
                  <a:srgbClr val="201449"/>
                </a:solidFill>
                <a:latin typeface="Avenir Next LT Pro" pitchFamily="34" charset="0"/>
                <a:ea typeface="Avenir Next LT Pro" pitchFamily="34" charset="-122"/>
                <a:cs typeface="Avenir Next LT Pro" pitchFamily="34" charset="-120"/>
              </a:rPr>
              <a:t>Dart</a:t>
            </a:r>
            <a:endParaRPr lang="en-US" sz="1600" dirty="0"/>
          </a:p>
        </p:txBody>
      </p:sp>
      <p:sp>
        <p:nvSpPr>
          <p:cNvPr id="9" name="Text 6"/>
          <p:cNvSpPr txBox="1"/>
          <p:nvPr/>
        </p:nvSpPr>
        <p:spPr>
          <a:xfrm>
            <a:off x="4617720" y="2148840"/>
            <a:ext cx="3017520" cy="457200"/>
          </a:xfrm>
          <a:prstGeom prst="rect">
            <a:avLst/>
          </a:prstGeom>
          <a:noFill/>
          <a:ln/>
        </p:spPr>
        <p:txBody>
          <a:bodyPr wrap="square" lIns="0" tIns="0" rIns="0" bIns="0" rtlCol="0" anchor="t"/>
          <a:lstStyle/>
          <a:p>
            <a:pPr marL="0" indent="0">
              <a:buNone/>
            </a:pPr>
            <a:r>
              <a:rPr lang="en-US" sz="1300" dirty="0">
                <a:solidFill>
                  <a:srgbClr val="454B78"/>
                </a:solidFill>
                <a:latin typeface="Avenir Next LT Pro" pitchFamily="34" charset="0"/>
                <a:ea typeface="Avenir Next LT Pro" pitchFamily="34" charset="-122"/>
                <a:cs typeface="Avenir Next LT Pro" pitchFamily="34" charset="-120"/>
              </a:rPr>
              <a:t>Async streams and device calls</a:t>
            </a:r>
            <a:endParaRPr lang="en-US" sz="1300" dirty="0"/>
          </a:p>
        </p:txBody>
      </p:sp>
      <p:sp>
        <p:nvSpPr>
          <p:cNvPr id="10" name="sensors_plus"/>
          <p:cNvSpPr/>
          <p:nvPr/>
        </p:nvSpPr>
        <p:spPr>
          <a:xfrm>
            <a:off x="8046720" y="1371600"/>
            <a:ext cx="3474720" cy="1417320"/>
          </a:xfrm>
          <a:prstGeom prst="roundRect">
            <a:avLst>
              <a:gd name="adj" fmla="val 7742"/>
            </a:avLst>
          </a:prstGeom>
          <a:solidFill>
            <a:srgbClr val="201449">
              <a:alpha val="45000"/>
            </a:srgbClr>
          </a:solidFill>
          <a:ln w="9525">
            <a:solidFill>
              <a:srgbClr val="FFFFFF">
                <a:alpha val="40000"/>
              </a:srgbClr>
            </a:solidFill>
            <a:prstDash val="solid"/>
          </a:ln>
        </p:spPr>
      </p:sp>
      <p:sp>
        <p:nvSpPr>
          <p:cNvPr id="11" name="Text 8"/>
          <p:cNvSpPr txBox="1"/>
          <p:nvPr/>
        </p:nvSpPr>
        <p:spPr>
          <a:xfrm>
            <a:off x="8321040" y="1600200"/>
            <a:ext cx="3017520" cy="45720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sensors_plus</a:t>
            </a:r>
            <a:endParaRPr lang="en-US" sz="1600" dirty="0"/>
          </a:p>
        </p:txBody>
      </p:sp>
      <p:sp>
        <p:nvSpPr>
          <p:cNvPr id="12" name="Text 9"/>
          <p:cNvSpPr txBox="1"/>
          <p:nvPr/>
        </p:nvSpPr>
        <p:spPr>
          <a:xfrm>
            <a:off x="8321040" y="2148840"/>
            <a:ext cx="3017520" cy="457200"/>
          </a:xfrm>
          <a:prstGeom prst="rect">
            <a:avLst/>
          </a:prstGeom>
          <a:noFill/>
          <a:ln/>
        </p:spPr>
        <p:txBody>
          <a:bodyPr wrap="square" lIns="0" tIns="0" rIns="0" bIns="0" rtlCol="0" anchor="t"/>
          <a:lstStyle/>
          <a:p>
            <a:pPr marL="0" indent="0">
              <a:buNone/>
            </a:pPr>
            <a:r>
              <a:rPr lang="en-US" sz="1300" dirty="0">
                <a:solidFill>
                  <a:srgbClr val="FFFFFF"/>
                </a:solidFill>
                <a:latin typeface="Avenir Next LT Pro" pitchFamily="34" charset="0"/>
                <a:ea typeface="Avenir Next LT Pro" pitchFamily="34" charset="-122"/>
                <a:cs typeface="Avenir Next LT Pro" pitchFamily="34" charset="-120"/>
              </a:rPr>
              <a:t>Accelerometer event stream</a:t>
            </a:r>
            <a:endParaRPr lang="en-US" sz="1300" dirty="0"/>
          </a:p>
        </p:txBody>
      </p:sp>
      <p:sp>
        <p:nvSpPr>
          <p:cNvPr id="13" name="geolocator"/>
          <p:cNvSpPr/>
          <p:nvPr/>
        </p:nvSpPr>
        <p:spPr>
          <a:xfrm>
            <a:off x="640080" y="2971800"/>
            <a:ext cx="3474720" cy="1417320"/>
          </a:xfrm>
          <a:prstGeom prst="roundRect">
            <a:avLst>
              <a:gd name="adj" fmla="val 7742"/>
            </a:avLst>
          </a:prstGeom>
          <a:solidFill>
            <a:srgbClr val="201449">
              <a:alpha val="45000"/>
            </a:srgbClr>
          </a:solidFill>
          <a:ln w="9525">
            <a:solidFill>
              <a:srgbClr val="FFFFFF">
                <a:alpha val="40000"/>
              </a:srgbClr>
            </a:solidFill>
            <a:prstDash val="solid"/>
          </a:ln>
        </p:spPr>
      </p:sp>
      <p:sp>
        <p:nvSpPr>
          <p:cNvPr id="14" name="Text 11"/>
          <p:cNvSpPr txBox="1"/>
          <p:nvPr/>
        </p:nvSpPr>
        <p:spPr>
          <a:xfrm>
            <a:off x="914400" y="3200400"/>
            <a:ext cx="3017520" cy="45720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geolocator</a:t>
            </a:r>
            <a:endParaRPr lang="en-US" sz="1600" dirty="0"/>
          </a:p>
        </p:txBody>
      </p:sp>
      <p:sp>
        <p:nvSpPr>
          <p:cNvPr id="15" name="Text 12"/>
          <p:cNvSpPr txBox="1"/>
          <p:nvPr/>
        </p:nvSpPr>
        <p:spPr>
          <a:xfrm>
            <a:off x="914400" y="3749040"/>
            <a:ext cx="3017520" cy="457200"/>
          </a:xfrm>
          <a:prstGeom prst="rect">
            <a:avLst/>
          </a:prstGeom>
          <a:noFill/>
          <a:ln/>
        </p:spPr>
        <p:txBody>
          <a:bodyPr wrap="square" lIns="0" tIns="0" rIns="0" bIns="0" rtlCol="0" anchor="t"/>
          <a:lstStyle/>
          <a:p>
            <a:pPr marL="0" indent="0">
              <a:buNone/>
            </a:pPr>
            <a:r>
              <a:rPr lang="en-US" sz="1300" dirty="0">
                <a:solidFill>
                  <a:srgbClr val="FFFFFF"/>
                </a:solidFill>
                <a:latin typeface="Avenir Next LT Pro" pitchFamily="34" charset="0"/>
                <a:ea typeface="Avenir Next LT Pro" pitchFamily="34" charset="-122"/>
                <a:cs typeface="Avenir Next LT Pro" pitchFamily="34" charset="-120"/>
              </a:rPr>
              <a:t>High-accuracy GPS position</a:t>
            </a:r>
            <a:endParaRPr lang="en-US" sz="1300" dirty="0"/>
          </a:p>
        </p:txBody>
      </p:sp>
      <p:sp>
        <p:nvSpPr>
          <p:cNvPr id="16" name="shared_preferences"/>
          <p:cNvSpPr/>
          <p:nvPr/>
        </p:nvSpPr>
        <p:spPr>
          <a:xfrm>
            <a:off x="4343400" y="2971800"/>
            <a:ext cx="3474720" cy="1417320"/>
          </a:xfrm>
          <a:prstGeom prst="roundRect">
            <a:avLst>
              <a:gd name="adj" fmla="val 7742"/>
            </a:avLst>
          </a:prstGeom>
          <a:solidFill>
            <a:srgbClr val="201449">
              <a:alpha val="45000"/>
            </a:srgbClr>
          </a:solidFill>
          <a:ln w="9525">
            <a:solidFill>
              <a:srgbClr val="FFFFFF">
                <a:alpha val="40000"/>
              </a:srgbClr>
            </a:solidFill>
            <a:prstDash val="solid"/>
          </a:ln>
        </p:spPr>
      </p:sp>
      <p:sp>
        <p:nvSpPr>
          <p:cNvPr id="17" name="Text 14"/>
          <p:cNvSpPr txBox="1"/>
          <p:nvPr/>
        </p:nvSpPr>
        <p:spPr>
          <a:xfrm>
            <a:off x="4617720" y="3200400"/>
            <a:ext cx="3017520" cy="45720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shared_preferences</a:t>
            </a:r>
            <a:endParaRPr lang="en-US" sz="1600" dirty="0"/>
          </a:p>
        </p:txBody>
      </p:sp>
      <p:sp>
        <p:nvSpPr>
          <p:cNvPr id="18" name="Text 15"/>
          <p:cNvSpPr txBox="1"/>
          <p:nvPr/>
        </p:nvSpPr>
        <p:spPr>
          <a:xfrm>
            <a:off x="4617720" y="3749040"/>
            <a:ext cx="3017520" cy="457200"/>
          </a:xfrm>
          <a:prstGeom prst="rect">
            <a:avLst/>
          </a:prstGeom>
          <a:noFill/>
          <a:ln/>
        </p:spPr>
        <p:txBody>
          <a:bodyPr wrap="square" lIns="0" tIns="0" rIns="0" bIns="0" rtlCol="0" anchor="t"/>
          <a:lstStyle/>
          <a:p>
            <a:pPr marL="0" indent="0">
              <a:buNone/>
            </a:pPr>
            <a:r>
              <a:rPr lang="en-US" sz="1300" dirty="0">
                <a:solidFill>
                  <a:srgbClr val="FFFFFF"/>
                </a:solidFill>
                <a:latin typeface="Avenir Next LT Pro" pitchFamily="34" charset="0"/>
                <a:ea typeface="Avenir Next LT Pro" pitchFamily="34" charset="-122"/>
                <a:cs typeface="Avenir Next LT Pro" pitchFamily="34" charset="-120"/>
              </a:rPr>
              <a:t>Local key-value storage</a:t>
            </a:r>
            <a:endParaRPr lang="en-US" sz="1300" dirty="0"/>
          </a:p>
        </p:txBody>
      </p:sp>
      <p:sp>
        <p:nvSpPr>
          <p:cNvPr id="19" name="audioplayers"/>
          <p:cNvSpPr/>
          <p:nvPr/>
        </p:nvSpPr>
        <p:spPr>
          <a:xfrm>
            <a:off x="8046720" y="2971800"/>
            <a:ext cx="3474720" cy="1417320"/>
          </a:xfrm>
          <a:prstGeom prst="roundRect">
            <a:avLst>
              <a:gd name="adj" fmla="val 7742"/>
            </a:avLst>
          </a:prstGeom>
          <a:solidFill>
            <a:srgbClr val="201449">
              <a:alpha val="45000"/>
            </a:srgbClr>
          </a:solidFill>
          <a:ln w="9525">
            <a:solidFill>
              <a:srgbClr val="FFFFFF">
                <a:alpha val="40000"/>
              </a:srgbClr>
            </a:solidFill>
            <a:prstDash val="solid"/>
          </a:ln>
        </p:spPr>
      </p:sp>
      <p:sp>
        <p:nvSpPr>
          <p:cNvPr id="20" name="Text 17"/>
          <p:cNvSpPr txBox="1"/>
          <p:nvPr/>
        </p:nvSpPr>
        <p:spPr>
          <a:xfrm>
            <a:off x="8321040" y="3200400"/>
            <a:ext cx="3017520" cy="45720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audioplayers</a:t>
            </a:r>
            <a:endParaRPr lang="en-US" sz="1600" dirty="0"/>
          </a:p>
        </p:txBody>
      </p:sp>
      <p:sp>
        <p:nvSpPr>
          <p:cNvPr id="21" name="Text 18"/>
          <p:cNvSpPr txBox="1"/>
          <p:nvPr/>
        </p:nvSpPr>
        <p:spPr>
          <a:xfrm>
            <a:off x="8321040" y="3749040"/>
            <a:ext cx="3017520" cy="457200"/>
          </a:xfrm>
          <a:prstGeom prst="rect">
            <a:avLst/>
          </a:prstGeom>
          <a:noFill/>
          <a:ln/>
        </p:spPr>
        <p:txBody>
          <a:bodyPr wrap="square" lIns="0" tIns="0" rIns="0" bIns="0" rtlCol="0" anchor="t"/>
          <a:lstStyle/>
          <a:p>
            <a:pPr marL="0" indent="0">
              <a:buNone/>
            </a:pPr>
            <a:r>
              <a:rPr lang="en-US" sz="1300" dirty="0">
                <a:solidFill>
                  <a:srgbClr val="FFFFFF"/>
                </a:solidFill>
                <a:latin typeface="Avenir Next LT Pro" pitchFamily="34" charset="0"/>
                <a:ea typeface="Avenir Next LT Pro" pitchFamily="34" charset="-122"/>
                <a:cs typeface="Avenir Next LT Pro" pitchFamily="34" charset="-120"/>
              </a:rPr>
              <a:t>Looping warning alarm</a:t>
            </a:r>
            <a:endParaRPr lang="en-US" sz="1300" dirty="0"/>
          </a:p>
        </p:txBody>
      </p:sp>
      <p:sp>
        <p:nvSpPr>
          <p:cNvPr id="22" name="url_launcher"/>
          <p:cNvSpPr/>
          <p:nvPr/>
        </p:nvSpPr>
        <p:spPr>
          <a:xfrm>
            <a:off x="640080" y="4572000"/>
            <a:ext cx="3474720" cy="1417320"/>
          </a:xfrm>
          <a:prstGeom prst="roundRect">
            <a:avLst>
              <a:gd name="adj" fmla="val 7742"/>
            </a:avLst>
          </a:prstGeom>
          <a:solidFill>
            <a:srgbClr val="201449">
              <a:alpha val="45000"/>
            </a:srgbClr>
          </a:solidFill>
          <a:ln w="9525">
            <a:solidFill>
              <a:srgbClr val="FFFFFF">
                <a:alpha val="40000"/>
              </a:srgbClr>
            </a:solidFill>
            <a:prstDash val="solid"/>
          </a:ln>
        </p:spPr>
      </p:sp>
      <p:sp>
        <p:nvSpPr>
          <p:cNvPr id="23" name="Text 20"/>
          <p:cNvSpPr txBox="1"/>
          <p:nvPr/>
        </p:nvSpPr>
        <p:spPr>
          <a:xfrm>
            <a:off x="914400" y="4800600"/>
            <a:ext cx="3017520" cy="45720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url_launcher</a:t>
            </a:r>
            <a:endParaRPr lang="en-US" sz="1600" dirty="0"/>
          </a:p>
        </p:txBody>
      </p:sp>
      <p:sp>
        <p:nvSpPr>
          <p:cNvPr id="24" name="Text 21"/>
          <p:cNvSpPr txBox="1"/>
          <p:nvPr/>
        </p:nvSpPr>
        <p:spPr>
          <a:xfrm>
            <a:off x="914400" y="5349240"/>
            <a:ext cx="3017520" cy="457200"/>
          </a:xfrm>
          <a:prstGeom prst="rect">
            <a:avLst/>
          </a:prstGeom>
          <a:noFill/>
          <a:ln/>
        </p:spPr>
        <p:txBody>
          <a:bodyPr wrap="square" lIns="0" tIns="0" rIns="0" bIns="0" rtlCol="0" anchor="t"/>
          <a:lstStyle/>
          <a:p>
            <a:pPr marL="0" indent="0">
              <a:buNone/>
            </a:pPr>
            <a:r>
              <a:rPr lang="en-US" sz="1300" dirty="0">
                <a:solidFill>
                  <a:srgbClr val="FFFFFF"/>
                </a:solidFill>
                <a:latin typeface="Avenir Next LT Pro" pitchFamily="34" charset="0"/>
                <a:ea typeface="Avenir Next LT Pro" pitchFamily="34" charset="-122"/>
                <a:cs typeface="Avenir Next LT Pro" pitchFamily="34" charset="-120"/>
              </a:rPr>
              <a:t>SMS URI composer</a:t>
            </a:r>
            <a:endParaRPr lang="en-US" sz="1300" dirty="0"/>
          </a:p>
        </p:txBody>
      </p:sp>
      <p:sp>
        <p:nvSpPr>
          <p:cNvPr id="25" name="permission_handler"/>
          <p:cNvSpPr/>
          <p:nvPr/>
        </p:nvSpPr>
        <p:spPr>
          <a:xfrm>
            <a:off x="4343400" y="4572000"/>
            <a:ext cx="3474720" cy="1417320"/>
          </a:xfrm>
          <a:prstGeom prst="roundRect">
            <a:avLst>
              <a:gd name="adj" fmla="val 7742"/>
            </a:avLst>
          </a:prstGeom>
          <a:solidFill>
            <a:srgbClr val="201449">
              <a:alpha val="45000"/>
            </a:srgbClr>
          </a:solidFill>
          <a:ln w="9525">
            <a:solidFill>
              <a:srgbClr val="FFFFFF">
                <a:alpha val="40000"/>
              </a:srgbClr>
            </a:solidFill>
            <a:prstDash val="solid"/>
          </a:ln>
        </p:spPr>
      </p:sp>
      <p:sp>
        <p:nvSpPr>
          <p:cNvPr id="26" name="Text 23"/>
          <p:cNvSpPr txBox="1"/>
          <p:nvPr/>
        </p:nvSpPr>
        <p:spPr>
          <a:xfrm>
            <a:off x="4617720" y="4800600"/>
            <a:ext cx="3017520" cy="45720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permission_handler</a:t>
            </a:r>
            <a:endParaRPr lang="en-US" sz="1600" dirty="0"/>
          </a:p>
        </p:txBody>
      </p:sp>
      <p:sp>
        <p:nvSpPr>
          <p:cNvPr id="27" name="Text 24"/>
          <p:cNvSpPr txBox="1"/>
          <p:nvPr/>
        </p:nvSpPr>
        <p:spPr>
          <a:xfrm>
            <a:off x="4617720" y="5349240"/>
            <a:ext cx="3017520" cy="457200"/>
          </a:xfrm>
          <a:prstGeom prst="rect">
            <a:avLst/>
          </a:prstGeom>
          <a:noFill/>
          <a:ln/>
        </p:spPr>
        <p:txBody>
          <a:bodyPr wrap="square" lIns="0" tIns="0" rIns="0" bIns="0" rtlCol="0" anchor="t"/>
          <a:lstStyle/>
          <a:p>
            <a:pPr marL="0" indent="0">
              <a:buNone/>
            </a:pPr>
            <a:r>
              <a:rPr lang="en-US" sz="1300" dirty="0">
                <a:solidFill>
                  <a:srgbClr val="FFFFFF"/>
                </a:solidFill>
                <a:latin typeface="Avenir Next LT Pro" pitchFamily="34" charset="0"/>
                <a:ea typeface="Avenir Next LT Pro" pitchFamily="34" charset="-122"/>
                <a:cs typeface="Avenir Next LT Pro" pitchFamily="34" charset="-120"/>
              </a:rPr>
              <a:t>Runtime permissions</a:t>
            </a:r>
            <a:endParaRPr lang="en-US" sz="1300" dirty="0"/>
          </a:p>
        </p:txBody>
      </p:sp>
      <p:sp>
        <p:nvSpPr>
          <p:cNvPr id="28" name="Android SDK + Gradle"/>
          <p:cNvSpPr/>
          <p:nvPr/>
        </p:nvSpPr>
        <p:spPr>
          <a:xfrm>
            <a:off x="8046720" y="4572000"/>
            <a:ext cx="3474720" cy="1417320"/>
          </a:xfrm>
          <a:prstGeom prst="roundRect">
            <a:avLst>
              <a:gd name="adj" fmla="val 7742"/>
            </a:avLst>
          </a:prstGeom>
          <a:solidFill>
            <a:srgbClr val="201449">
              <a:alpha val="45000"/>
            </a:srgbClr>
          </a:solidFill>
          <a:ln w="9525">
            <a:solidFill>
              <a:srgbClr val="FFFFFF">
                <a:alpha val="40000"/>
              </a:srgbClr>
            </a:solidFill>
            <a:prstDash val="solid"/>
          </a:ln>
        </p:spPr>
      </p:sp>
      <p:sp>
        <p:nvSpPr>
          <p:cNvPr id="29" name="Text 26"/>
          <p:cNvSpPr txBox="1"/>
          <p:nvPr/>
        </p:nvSpPr>
        <p:spPr>
          <a:xfrm>
            <a:off x="8321040" y="4800600"/>
            <a:ext cx="3017520" cy="45720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Android SDK + Gradle</a:t>
            </a:r>
            <a:endParaRPr lang="en-US" sz="1600" dirty="0"/>
          </a:p>
        </p:txBody>
      </p:sp>
      <p:sp>
        <p:nvSpPr>
          <p:cNvPr id="30" name="Text 27"/>
          <p:cNvSpPr txBox="1"/>
          <p:nvPr/>
        </p:nvSpPr>
        <p:spPr>
          <a:xfrm>
            <a:off x="8321040" y="5349240"/>
            <a:ext cx="3017520" cy="457200"/>
          </a:xfrm>
          <a:prstGeom prst="rect">
            <a:avLst/>
          </a:prstGeom>
          <a:noFill/>
          <a:ln/>
        </p:spPr>
        <p:txBody>
          <a:bodyPr wrap="square" lIns="0" tIns="0" rIns="0" bIns="0" rtlCol="0" anchor="t"/>
          <a:lstStyle/>
          <a:p>
            <a:pPr marL="0" indent="0">
              <a:buNone/>
            </a:pPr>
            <a:r>
              <a:rPr lang="en-US" sz="1300" dirty="0">
                <a:solidFill>
                  <a:srgbClr val="FFFFFF"/>
                </a:solidFill>
                <a:latin typeface="Avenir Next LT Pro" pitchFamily="34" charset="0"/>
                <a:ea typeface="Avenir Next LT Pro" pitchFamily="34" charset="-122"/>
                <a:cs typeface="Avenir Next LT Pro" pitchFamily="34" charset="-120"/>
              </a:rPr>
              <a:t>Build tools</a:t>
            </a:r>
            <a:endParaRPr lang="en-US" sz="13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Software &amp; Hardware Requirements</a:t>
            </a:r>
            <a:endParaRPr lang="en-US" sz="3200" dirty="0"/>
          </a:p>
        </p:txBody>
      </p:sp>
      <p:sp>
        <p:nvSpPr>
          <p:cNvPr id="4" name="Text 1"/>
          <p:cNvSpPr txBox="1"/>
          <p:nvPr/>
        </p:nvSpPr>
        <p:spPr>
          <a:xfrm>
            <a:off x="640080" y="1280160"/>
            <a:ext cx="5303520" cy="365760"/>
          </a:xfrm>
          <a:prstGeom prst="rect">
            <a:avLst/>
          </a:prstGeom>
          <a:noFill/>
          <a:ln/>
        </p:spPr>
        <p:txBody>
          <a:bodyPr wrap="square" lIns="0" tIns="0" rIns="0" bIns="0" rtlCol="0" anchor="t"/>
          <a:lstStyle/>
          <a:p>
            <a:pPr marL="0" indent="0">
              <a:buNone/>
            </a:pPr>
            <a:r>
              <a:rPr lang="en-US" sz="1600" b="1" dirty="0">
                <a:solidFill>
                  <a:srgbClr val="FFFFFF"/>
                </a:solidFill>
                <a:latin typeface="Avenir Next LT Pro" pitchFamily="34" charset="0"/>
                <a:ea typeface="Avenir Next LT Pro" pitchFamily="34" charset="-122"/>
                <a:cs typeface="Avenir Next LT Pro" pitchFamily="34" charset="-120"/>
              </a:rPr>
              <a:t>Software Requirements</a:t>
            </a:r>
            <a:endParaRPr lang="en-US" sz="1600" dirty="0"/>
          </a:p>
        </p:txBody>
      </p:sp>
      <p:sp>
        <p:nvSpPr>
          <p:cNvPr id="5" name="Text 2"/>
          <p:cNvSpPr txBox="1"/>
          <p:nvPr/>
        </p:nvSpPr>
        <p:spPr>
          <a:xfrm>
            <a:off x="6217920" y="1280160"/>
            <a:ext cx="5303520" cy="365760"/>
          </a:xfrm>
          <a:prstGeom prst="rect">
            <a:avLst/>
          </a:prstGeom>
          <a:noFill/>
          <a:ln/>
        </p:spPr>
        <p:txBody>
          <a:bodyPr wrap="square" lIns="0" tIns="0" rIns="0" bIns="0" rtlCol="0" anchor="t"/>
          <a:lstStyle/>
          <a:p>
            <a:pPr marL="0" indent="0">
              <a:buNone/>
            </a:pPr>
            <a:r>
              <a:rPr lang="en-US" sz="1600" b="1" dirty="0">
                <a:solidFill>
                  <a:srgbClr val="FFFFFF"/>
                </a:solidFill>
                <a:latin typeface="Avenir Next LT Pro" pitchFamily="34" charset="0"/>
                <a:ea typeface="Avenir Next LT Pro" pitchFamily="34" charset="-122"/>
                <a:cs typeface="Avenir Next LT Pro" pitchFamily="34" charset="-120"/>
              </a:rPr>
              <a:t>Hardware Requirements</a:t>
            </a:r>
            <a:endParaRPr lang="en-US" sz="1600" dirty="0"/>
          </a:p>
        </p:txBody>
      </p:sp>
      <p:graphicFrame>
        <p:nvGraphicFramePr>
          <p:cNvPr id="12" name="Table"/>
          <p:cNvGraphicFramePr>
            <a:graphicFrameLocks noGrp="1"/>
          </p:cNvGraphicFramePr>
          <p:nvPr>
            <p:extLst>
              <p:ext uri="{D42A27DB-BD31-4B8C-83A1-F6EECF244321}">
                <p14:modId xmlns:p14="http://schemas.microsoft.com/office/powerpoint/2010/main" val="2252278172"/>
              </p:ext>
            </p:extLst>
          </p:nvPr>
        </p:nvGraphicFramePr>
        <p:xfrm>
          <a:off x="640080" y="1737360"/>
          <a:ext cx="5303520" cy="3666744"/>
        </p:xfrm>
        <a:graphic>
          <a:graphicData uri="http://schemas.openxmlformats.org/drawingml/2006/table">
            <a:tbl>
              <a:tblPr/>
              <a:tblGrid>
                <a:gridCol w="14630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478271">
                <a:tc>
                  <a:txBody>
                    <a:bodyPr/>
                    <a:lstStyle/>
                    <a:p>
                      <a:pPr marL="0" indent="0">
                        <a:buNone/>
                      </a:pPr>
                      <a:r>
                        <a:rPr lang="en-US" sz="1200" b="1" dirty="0">
                          <a:solidFill>
                            <a:srgbClr val="FFFFFF"/>
                          </a:solidFill>
                          <a:latin typeface="Avenir Next LT Pro" pitchFamily="34" charset="0"/>
                          <a:ea typeface="Avenir Next LT Pro" pitchFamily="34" charset="-122"/>
                          <a:cs typeface="Avenir Next LT Pro" pitchFamily="34" charset="-120"/>
                        </a:rPr>
                        <a:t>Component</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200" b="1" dirty="0">
                          <a:solidFill>
                            <a:srgbClr val="FFFFFF"/>
                          </a:solidFill>
                          <a:latin typeface="Avenir Next LT Pro" pitchFamily="34" charset="0"/>
                          <a:ea typeface="Avenir Next LT Pro" pitchFamily="34" charset="-122"/>
                          <a:cs typeface="Avenir Next LT Pro" pitchFamily="34" charset="-120"/>
                        </a:rPr>
                        <a:t>Specification</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478271">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IDE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Android Studio or VS Code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8271">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Framework</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Flutter SDK 3.x</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8271">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Language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Dart</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97118">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Packages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sensors_plus, geolocator, shared_preferences, audioplayers, url_launcher, permission_handler</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8271">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Build tools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Android SDK, Gradle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8271">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Version control</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Git / GitHub (optional)</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23" name="Table"/>
          <p:cNvGraphicFramePr>
            <a:graphicFrameLocks noGrp="1"/>
          </p:cNvGraphicFramePr>
          <p:nvPr>
            <p:extLst>
              <p:ext uri="{D42A27DB-BD31-4B8C-83A1-F6EECF244321}">
                <p14:modId xmlns:p14="http://schemas.microsoft.com/office/powerpoint/2010/main" val="4001813651"/>
              </p:ext>
            </p:extLst>
          </p:nvPr>
        </p:nvGraphicFramePr>
        <p:xfrm>
          <a:off x="6217920" y="1737360"/>
          <a:ext cx="5394960" cy="3666746"/>
        </p:xfrm>
        <a:graphic>
          <a:graphicData uri="http://schemas.openxmlformats.org/drawingml/2006/table">
            <a:tbl>
              <a:tblPr/>
              <a:tblGrid>
                <a:gridCol w="1488265">
                  <a:extLst>
                    <a:ext uri="{9D8B030D-6E8A-4147-A177-3AD203B41FA5}">
                      <a16:colId xmlns:a16="http://schemas.microsoft.com/office/drawing/2014/main" val="20000"/>
                    </a:ext>
                  </a:extLst>
                </a:gridCol>
                <a:gridCol w="3906695">
                  <a:extLst>
                    <a:ext uri="{9D8B030D-6E8A-4147-A177-3AD203B41FA5}">
                      <a16:colId xmlns:a16="http://schemas.microsoft.com/office/drawing/2014/main" val="20001"/>
                    </a:ext>
                  </a:extLst>
                </a:gridCol>
              </a:tblGrid>
              <a:tr h="423086">
                <a:tc>
                  <a:txBody>
                    <a:bodyPr/>
                    <a:lstStyle/>
                    <a:p>
                      <a:pPr marL="0" indent="0">
                        <a:buNone/>
                      </a:pPr>
                      <a:r>
                        <a:rPr lang="en-US" sz="1200" b="1" dirty="0">
                          <a:solidFill>
                            <a:srgbClr val="FFFFFF"/>
                          </a:solidFill>
                          <a:latin typeface="Avenir Next LT Pro" pitchFamily="34" charset="0"/>
                          <a:ea typeface="Avenir Next LT Pro" pitchFamily="34" charset="-122"/>
                          <a:cs typeface="Avenir Next LT Pro" pitchFamily="34" charset="-120"/>
                        </a:rPr>
                        <a:t>Component</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200" b="1" dirty="0">
                          <a:solidFill>
                            <a:srgbClr val="FFFFFF"/>
                          </a:solidFill>
                          <a:latin typeface="Avenir Next LT Pro" pitchFamily="34" charset="0"/>
                          <a:ea typeface="Avenir Next LT Pro" pitchFamily="34" charset="-122"/>
                          <a:cs typeface="Avenir Next LT Pro" pitchFamily="34" charset="-120"/>
                        </a:rPr>
                        <a:t>Specification</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423086">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Computer</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Windows 10+, macOS 10.14+ or Ubuntu</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3086">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Processor</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Intel Core i3 or higher (~2.0 GHz)</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3086">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RAM</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4 GB minimum, 8 GB recommended</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3086">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Storage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64 GB free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5144">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Mobile phone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Android with accelerometer, gyroscope, GPS, speaker</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3086">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Messaging</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SMS-capable device or composer access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3086">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Network</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Setup only; not needed for core flow</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18" name="Text 15"/>
          <p:cNvSpPr txBox="1"/>
          <p:nvPr/>
        </p:nvSpPr>
        <p:spPr>
          <a:xfrm>
            <a:off x="4572000" y="4663440"/>
            <a:ext cx="3017520" cy="1280160"/>
          </a:xfrm>
          <a:prstGeom prst="rect">
            <a:avLst/>
          </a:prstGeom>
          <a:noFill/>
          <a:ln/>
        </p:spPr>
        <p:txBody>
          <a:bodyPr wrap="square" lIns="0" tIns="0" rIns="0" bIns="0" rtlCol="0" anchor="t"/>
          <a:lstStyle/>
          <a:p>
            <a:pPr marL="177800" indent="-177800">
              <a:spcAft>
                <a:spcPts val="500"/>
              </a:spcAft>
              <a:buSzPct val="100000"/>
              <a:buChar char="•"/>
            </a:pP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12</a:t>
            </a:fld>
            <a:endParaRPr lang="en-US"/>
          </a:p>
        </p:txBody>
      </p:sp>
      <p:pic>
        <p:nvPicPr>
          <p:cNvPr id="22" name="Picture 21">
            <a:extLst>
              <a:ext uri="{FF2B5EF4-FFF2-40B4-BE49-F238E27FC236}">
                <a16:creationId xmlns:a16="http://schemas.microsoft.com/office/drawing/2014/main" id="{A2D416F9-042F-19B4-A678-82BE615DF4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810883" y="1958195"/>
            <a:ext cx="10446589" cy="4347713"/>
          </a:xfrm>
          <a:prstGeom prst="rect">
            <a:avLst/>
          </a:prstGeom>
        </p:spPr>
      </p:pic>
      <p:sp>
        <p:nvSpPr>
          <p:cNvPr id="6" name="Title 5">
            <a:extLst>
              <a:ext uri="{FF2B5EF4-FFF2-40B4-BE49-F238E27FC236}">
                <a16:creationId xmlns:a16="http://schemas.microsoft.com/office/drawing/2014/main" id="{D3543AFC-1C2D-A8C0-BA30-D2EB8B97C648}"/>
              </a:ext>
            </a:extLst>
          </p:cNvPr>
          <p:cNvSpPr>
            <a:spLocks noGrp="1"/>
          </p:cNvSpPr>
          <p:nvPr>
            <p:ph type="title" idx="101"/>
          </p:nvPr>
        </p:nvSpPr>
        <p:spPr>
          <a:xfrm>
            <a:off x="0" y="320040"/>
            <a:ext cx="11521440" cy="731520"/>
          </a:xfrm>
        </p:spPr>
        <p:txBody>
          <a:bodyPr/>
          <a:lstStyle/>
          <a:p>
            <a:r>
              <a:rPr lang="en-US" dirty="0">
                <a:solidFill>
                  <a:schemeClr val="bg1"/>
                </a:solidFill>
              </a:rPr>
              <a:t>System Architecture</a:t>
            </a:r>
          </a:p>
        </p:txBody>
      </p:sp>
      <p:pic>
        <p:nvPicPr>
          <p:cNvPr id="8" name="Picture 7">
            <a:extLst>
              <a:ext uri="{FF2B5EF4-FFF2-40B4-BE49-F238E27FC236}">
                <a16:creationId xmlns:a16="http://schemas.microsoft.com/office/drawing/2014/main" id="{2979FF60-529B-3384-B109-7B00FB6F9B8E}"/>
              </a:ext>
            </a:extLst>
          </p:cNvPr>
          <p:cNvPicPr>
            <a:picLocks noChangeAspect="1"/>
          </p:cNvPicPr>
          <p:nvPr/>
        </p:nvPicPr>
        <p:blipFill>
          <a:blip r:embed="rId4"/>
          <a:stretch>
            <a:fillRect/>
          </a:stretch>
        </p:blipFill>
        <p:spPr>
          <a:xfrm>
            <a:off x="0" y="1051560"/>
            <a:ext cx="12192000" cy="57018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flipV="1">
            <a:off x="640080" y="182880"/>
            <a:ext cx="10881360" cy="137160"/>
          </a:xfrm>
          <a:prstGeom prst="rect">
            <a:avLst/>
          </a:prstGeom>
          <a:noFill/>
          <a:ln/>
        </p:spPr>
        <p:txBody>
          <a:bodyPr wrap="square" lIns="0" tIns="0" rIns="0" bIns="0" rtlCol="0" anchor="ctr"/>
          <a:lstStyle/>
          <a:p>
            <a:pPr marL="0" indent="0" algn="l">
              <a:buNone/>
            </a:pPr>
            <a:endParaRPr lang="en-US" sz="3200" dirty="0"/>
          </a:p>
        </p:txBody>
      </p:sp>
      <p:sp>
        <p:nvSpPr>
          <p:cNvPr id="4" name="Step 1"/>
          <p:cNvSpPr/>
          <p:nvPr/>
        </p:nvSpPr>
        <p:spPr>
          <a:xfrm>
            <a:off x="64008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5" name="Text 2"/>
          <p:cNvSpPr txBox="1"/>
          <p:nvPr/>
        </p:nvSpPr>
        <p:spPr>
          <a:xfrm>
            <a:off x="713232" y="1371600"/>
            <a:ext cx="1438656"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User UI</a:t>
            </a:r>
            <a:endParaRPr lang="en-US" sz="1300" dirty="0"/>
          </a:p>
        </p:txBody>
      </p:sp>
      <p:sp>
        <p:nvSpPr>
          <p:cNvPr id="6" name="Text 3"/>
          <p:cNvSpPr txBox="1"/>
          <p:nvPr/>
        </p:nvSpPr>
        <p:spPr>
          <a:xfrm>
            <a:off x="222504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7" name="Step 2"/>
          <p:cNvSpPr/>
          <p:nvPr/>
        </p:nvSpPr>
        <p:spPr>
          <a:xfrm>
            <a:off x="249936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8" name="Text 5"/>
          <p:cNvSpPr txBox="1"/>
          <p:nvPr/>
        </p:nvSpPr>
        <p:spPr>
          <a:xfrm>
            <a:off x="2572512" y="1371600"/>
            <a:ext cx="1438656"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Controller</a:t>
            </a:r>
            <a:endParaRPr lang="en-US" sz="1300" dirty="0"/>
          </a:p>
        </p:txBody>
      </p:sp>
      <p:sp>
        <p:nvSpPr>
          <p:cNvPr id="9" name="Text 6"/>
          <p:cNvSpPr txBox="1"/>
          <p:nvPr/>
        </p:nvSpPr>
        <p:spPr>
          <a:xfrm>
            <a:off x="408432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0" name="Step 3"/>
          <p:cNvSpPr/>
          <p:nvPr/>
        </p:nvSpPr>
        <p:spPr>
          <a:xfrm>
            <a:off x="435864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1" name="Text 8"/>
          <p:cNvSpPr txBox="1"/>
          <p:nvPr/>
        </p:nvSpPr>
        <p:spPr>
          <a:xfrm>
            <a:off x="4431792" y="1371600"/>
            <a:ext cx="1438656"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Sensor stream</a:t>
            </a:r>
            <a:endParaRPr lang="en-US" sz="1300" dirty="0"/>
          </a:p>
        </p:txBody>
      </p:sp>
      <p:sp>
        <p:nvSpPr>
          <p:cNvPr id="12" name="Text 9"/>
          <p:cNvSpPr txBox="1"/>
          <p:nvPr/>
        </p:nvSpPr>
        <p:spPr>
          <a:xfrm>
            <a:off x="594360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3" name="Step 4"/>
          <p:cNvSpPr/>
          <p:nvPr/>
        </p:nvSpPr>
        <p:spPr>
          <a:xfrm>
            <a:off x="621792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4" name="Text 11"/>
          <p:cNvSpPr txBox="1"/>
          <p:nvPr/>
        </p:nvSpPr>
        <p:spPr>
          <a:xfrm>
            <a:off x="6291072" y="1371600"/>
            <a:ext cx="1438656"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Warning timer</a:t>
            </a:r>
            <a:endParaRPr lang="en-US" sz="1300" dirty="0"/>
          </a:p>
        </p:txBody>
      </p:sp>
      <p:sp>
        <p:nvSpPr>
          <p:cNvPr id="15" name="Text 12"/>
          <p:cNvSpPr txBox="1"/>
          <p:nvPr/>
        </p:nvSpPr>
        <p:spPr>
          <a:xfrm>
            <a:off x="780288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6" name="Step 5"/>
          <p:cNvSpPr/>
          <p:nvPr/>
        </p:nvSpPr>
        <p:spPr>
          <a:xfrm>
            <a:off x="8077200" y="13716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7" name="Text 14"/>
          <p:cNvSpPr txBox="1"/>
          <p:nvPr/>
        </p:nvSpPr>
        <p:spPr>
          <a:xfrm>
            <a:off x="8150352" y="1371600"/>
            <a:ext cx="1438656"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GPS fetch</a:t>
            </a:r>
            <a:endParaRPr lang="en-US" sz="1300" dirty="0"/>
          </a:p>
        </p:txBody>
      </p:sp>
      <p:sp>
        <p:nvSpPr>
          <p:cNvPr id="18" name="Text 15"/>
          <p:cNvSpPr txBox="1"/>
          <p:nvPr/>
        </p:nvSpPr>
        <p:spPr>
          <a:xfrm>
            <a:off x="9662160" y="13716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9" name="Step 6"/>
          <p:cNvSpPr/>
          <p:nvPr/>
        </p:nvSpPr>
        <p:spPr>
          <a:xfrm>
            <a:off x="9936480" y="1371600"/>
            <a:ext cx="1584960" cy="868680"/>
          </a:xfrm>
          <a:prstGeom prst="roundRect">
            <a:avLst>
              <a:gd name="adj" fmla="val 12632"/>
            </a:avLst>
          </a:prstGeom>
          <a:solidFill>
            <a:srgbClr val="FFFFFF">
              <a:alpha val="92000"/>
            </a:srgbClr>
          </a:solidFill>
          <a:ln w="9525">
            <a:solidFill>
              <a:srgbClr val="FFFFFF">
                <a:alpha val="40000"/>
              </a:srgbClr>
            </a:solidFill>
            <a:prstDash val="solid"/>
          </a:ln>
        </p:spPr>
      </p:sp>
      <p:sp>
        <p:nvSpPr>
          <p:cNvPr id="20" name="Text 17"/>
          <p:cNvSpPr txBox="1"/>
          <p:nvPr/>
        </p:nvSpPr>
        <p:spPr>
          <a:xfrm>
            <a:off x="10009632" y="1371600"/>
            <a:ext cx="1438656" cy="868680"/>
          </a:xfrm>
          <a:prstGeom prst="rect">
            <a:avLst/>
          </a:prstGeom>
          <a:noFill/>
          <a:ln/>
        </p:spPr>
        <p:txBody>
          <a:bodyPr wrap="square" lIns="0" tIns="0" rIns="0" bIns="0" rtlCol="0" anchor="ctr"/>
          <a:lstStyle/>
          <a:p>
            <a:pPr marL="0" indent="0" algn="ctr">
              <a:buNone/>
            </a:pPr>
            <a:r>
              <a:rPr lang="en-US" sz="1300" b="1" dirty="0">
                <a:solidFill>
                  <a:srgbClr val="201449"/>
                </a:solidFill>
                <a:latin typeface="Avenir Next LT Pro" pitchFamily="34" charset="0"/>
                <a:ea typeface="Avenir Next LT Pro" pitchFamily="34" charset="-122"/>
                <a:cs typeface="Avenir Next LT Pro" pitchFamily="34" charset="-120"/>
              </a:rPr>
              <a:t>SMS launch</a:t>
            </a:r>
            <a:endParaRPr lang="en-US" sz="1300" dirty="0"/>
          </a:p>
        </p:txBody>
      </p:sp>
      <p:graphicFrame>
        <p:nvGraphicFramePr>
          <p:cNvPr id="3" name="Table"/>
          <p:cNvGraphicFramePr>
            <a:graphicFrameLocks noGrp="1"/>
          </p:cNvGraphicFramePr>
          <p:nvPr>
            <p:extLst>
              <p:ext uri="{D42A27DB-BD31-4B8C-83A1-F6EECF244321}">
                <p14:modId xmlns:p14="http://schemas.microsoft.com/office/powerpoint/2010/main" val="405239040"/>
              </p:ext>
            </p:extLst>
          </p:nvPr>
        </p:nvGraphicFramePr>
        <p:xfrm>
          <a:off x="640080" y="2606040"/>
          <a:ext cx="10881360" cy="3337558"/>
        </p:xfrm>
        <a:graphic>
          <a:graphicData uri="http://schemas.openxmlformats.org/drawingml/2006/table">
            <a:tbl>
              <a:tblPr/>
              <a:tblGrid>
                <a:gridCol w="256032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476794">
                <a:tc>
                  <a:txBody>
                    <a:bodyPr/>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Layer</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In this project</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476794">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User interaction</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Flutter screens: detection switch, cancel button</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6794">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Application layer</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Flutter UI</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6794">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Business logic</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On-device controller: magnitude, window, threshold, cooldown</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6794">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Database layer</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SharedPreferences (local; no server)</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6794">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External services</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GPS (Geolocator), Google Maps URL, phone SMS composer</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6794">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Backend</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None required</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C7CD-763D-4E48-BE17-8E1E435D9AC3}"/>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F9E54489-5FD0-9ED2-B375-B39A28A906BD}"/>
              </a:ext>
            </a:extLst>
          </p:cNvPr>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Design Diagrams</a:t>
            </a:r>
            <a:endParaRPr lang="en-US" sz="3200" dirty="0"/>
          </a:p>
        </p:txBody>
      </p:sp>
      <p:sp>
        <p:nvSpPr>
          <p:cNvPr id="18" name="Text 15">
            <a:extLst>
              <a:ext uri="{FF2B5EF4-FFF2-40B4-BE49-F238E27FC236}">
                <a16:creationId xmlns:a16="http://schemas.microsoft.com/office/drawing/2014/main" id="{1584F476-9470-BD8E-3D7F-AAC28F8A0E90}"/>
              </a:ext>
            </a:extLst>
          </p:cNvPr>
          <p:cNvSpPr txBox="1"/>
          <p:nvPr/>
        </p:nvSpPr>
        <p:spPr>
          <a:xfrm>
            <a:off x="4572000" y="4663440"/>
            <a:ext cx="3017520" cy="1280160"/>
          </a:xfrm>
          <a:prstGeom prst="rect">
            <a:avLst/>
          </a:prstGeom>
          <a:noFill/>
          <a:ln/>
        </p:spPr>
        <p:txBody>
          <a:bodyPr wrap="square" lIns="0" tIns="0" rIns="0" bIns="0" rtlCol="0" anchor="t"/>
          <a:lstStyle/>
          <a:p>
            <a:pPr marL="177800" indent="-177800">
              <a:spcAft>
                <a:spcPts val="500"/>
              </a:spcAft>
              <a:buSzPct val="100000"/>
              <a:buChar char="•"/>
            </a:pPr>
            <a:endParaRPr lang="en-US" sz="1400" dirty="0"/>
          </a:p>
        </p:txBody>
      </p:sp>
      <p:sp>
        <p:nvSpPr>
          <p:cNvPr id="25" name="Slide Number Placeholder 0">
            <a:extLst>
              <a:ext uri="{FF2B5EF4-FFF2-40B4-BE49-F238E27FC236}">
                <a16:creationId xmlns:a16="http://schemas.microsoft.com/office/drawing/2014/main" id="{DEAA6CA9-E501-76A4-3D29-3E8C91C1BA05}"/>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14</a:t>
            </a:fld>
            <a:endParaRPr lang="en-US"/>
          </a:p>
        </p:txBody>
      </p:sp>
      <p:pic>
        <p:nvPicPr>
          <p:cNvPr id="22" name="Picture 21">
            <a:extLst>
              <a:ext uri="{FF2B5EF4-FFF2-40B4-BE49-F238E27FC236}">
                <a16:creationId xmlns:a16="http://schemas.microsoft.com/office/drawing/2014/main" id="{68EA75F2-CE95-7010-F9EF-A32E37C2C6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810883" y="1958195"/>
            <a:ext cx="10446589" cy="4347713"/>
          </a:xfrm>
          <a:prstGeom prst="rect">
            <a:avLst/>
          </a:prstGeom>
        </p:spPr>
      </p:pic>
      <p:sp>
        <p:nvSpPr>
          <p:cNvPr id="23" name="TextBox 22">
            <a:extLst>
              <a:ext uri="{FF2B5EF4-FFF2-40B4-BE49-F238E27FC236}">
                <a16:creationId xmlns:a16="http://schemas.microsoft.com/office/drawing/2014/main" id="{83AD44C7-798F-A2EB-52F3-467090DB1DB8}"/>
              </a:ext>
            </a:extLst>
          </p:cNvPr>
          <p:cNvSpPr txBox="1"/>
          <p:nvPr/>
        </p:nvSpPr>
        <p:spPr>
          <a:xfrm>
            <a:off x="640080" y="1411221"/>
            <a:ext cx="4903380" cy="477054"/>
          </a:xfrm>
          <a:prstGeom prst="rect">
            <a:avLst/>
          </a:prstGeom>
          <a:noFill/>
        </p:spPr>
        <p:txBody>
          <a:bodyPr wrap="square" rtlCol="0">
            <a:spAutoFit/>
          </a:bodyPr>
          <a:lstStyle/>
          <a:p>
            <a:r>
              <a:rPr lang="en-US" sz="2500" dirty="0">
                <a:solidFill>
                  <a:schemeClr val="bg1"/>
                </a:solidFill>
                <a:latin typeface="Times New Roman" panose="02020603050405020304" pitchFamily="18" charset="0"/>
                <a:cs typeface="Times New Roman" panose="02020603050405020304" pitchFamily="18" charset="0"/>
              </a:rPr>
              <a:t>USE CASE DIAGRAM</a:t>
            </a:r>
          </a:p>
        </p:txBody>
      </p:sp>
    </p:spTree>
    <p:extLst>
      <p:ext uri="{BB962C8B-B14F-4D97-AF65-F5344CB8AC3E}">
        <p14:creationId xmlns:p14="http://schemas.microsoft.com/office/powerpoint/2010/main" val="45223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297303-02B2-9D9F-04A2-A8A0E599BBA0}"/>
              </a:ext>
            </a:extLst>
          </p:cNvPr>
          <p:cNvPicPr>
            <a:picLocks noChangeAspect="1"/>
          </p:cNvPicPr>
          <p:nvPr/>
        </p:nvPicPr>
        <p:blipFill>
          <a:blip r:embed="rId2"/>
          <a:srcRect/>
          <a:stretch>
            <a:fillRect/>
          </a:stretch>
        </p:blipFill>
        <p:spPr bwMode="auto">
          <a:xfrm>
            <a:off x="1009291" y="672860"/>
            <a:ext cx="10127411" cy="6245525"/>
          </a:xfrm>
          <a:prstGeom prst="rect">
            <a:avLst/>
          </a:prstGeom>
        </p:spPr>
      </p:pic>
      <p:sp>
        <p:nvSpPr>
          <p:cNvPr id="4" name="TextBox 3">
            <a:extLst>
              <a:ext uri="{FF2B5EF4-FFF2-40B4-BE49-F238E27FC236}">
                <a16:creationId xmlns:a16="http://schemas.microsoft.com/office/drawing/2014/main" id="{ED716215-0B45-6C08-763C-F5D71C51E543}"/>
              </a:ext>
            </a:extLst>
          </p:cNvPr>
          <p:cNvSpPr txBox="1"/>
          <p:nvPr/>
        </p:nvSpPr>
        <p:spPr>
          <a:xfrm>
            <a:off x="1285336" y="327804"/>
            <a:ext cx="4718649" cy="477054"/>
          </a:xfrm>
          <a:prstGeom prst="rect">
            <a:avLst/>
          </a:prstGeom>
          <a:noFill/>
        </p:spPr>
        <p:txBody>
          <a:bodyPr wrap="square" rtlCol="0">
            <a:spAutoFit/>
          </a:bodyPr>
          <a:lstStyle/>
          <a:p>
            <a:pPr algn="just"/>
            <a:r>
              <a:rPr lang="en-US" sz="2500" dirty="0">
                <a:solidFill>
                  <a:schemeClr val="bg1"/>
                </a:solidFill>
                <a:latin typeface="Times New Roman" panose="02020603050405020304" pitchFamily="18" charset="0"/>
                <a:cs typeface="Times New Roman" panose="02020603050405020304" pitchFamily="18" charset="0"/>
              </a:rPr>
              <a:t>CLASS DIAGRAM</a:t>
            </a:r>
          </a:p>
        </p:txBody>
      </p:sp>
    </p:spTree>
    <p:extLst>
      <p:ext uri="{BB962C8B-B14F-4D97-AF65-F5344CB8AC3E}">
        <p14:creationId xmlns:p14="http://schemas.microsoft.com/office/powerpoint/2010/main" val="3171179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8496C6-27E0-FFB3-5638-6BFD8A0E8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026543" y="1155940"/>
            <a:ext cx="10541480" cy="5546785"/>
          </a:xfrm>
          <a:prstGeom prst="rect">
            <a:avLst/>
          </a:prstGeom>
        </p:spPr>
      </p:pic>
      <p:sp>
        <p:nvSpPr>
          <p:cNvPr id="4" name="TextBox 3">
            <a:extLst>
              <a:ext uri="{FF2B5EF4-FFF2-40B4-BE49-F238E27FC236}">
                <a16:creationId xmlns:a16="http://schemas.microsoft.com/office/drawing/2014/main" id="{4E9FBCFE-D734-792C-B413-19B15B7F6CD0}"/>
              </a:ext>
            </a:extLst>
          </p:cNvPr>
          <p:cNvSpPr txBox="1"/>
          <p:nvPr/>
        </p:nvSpPr>
        <p:spPr>
          <a:xfrm>
            <a:off x="888520" y="440359"/>
            <a:ext cx="5736565" cy="477054"/>
          </a:xfrm>
          <a:prstGeom prst="rect">
            <a:avLst/>
          </a:prstGeom>
          <a:noFill/>
        </p:spPr>
        <p:txBody>
          <a:bodyPr wrap="square" rtlCol="0">
            <a:spAutoFit/>
          </a:bodyPr>
          <a:lstStyle/>
          <a:p>
            <a:pPr algn="just"/>
            <a:r>
              <a:rPr lang="en-US" sz="2500" dirty="0">
                <a:solidFill>
                  <a:schemeClr val="bg1"/>
                </a:solidFill>
                <a:latin typeface="Times New Roman" panose="02020603050405020304" pitchFamily="18" charset="0"/>
                <a:cs typeface="Times New Roman" panose="02020603050405020304" pitchFamily="18" charset="0"/>
              </a:rPr>
              <a:t>STATE DIAGRAM</a:t>
            </a:r>
          </a:p>
        </p:txBody>
      </p:sp>
    </p:spTree>
    <p:extLst>
      <p:ext uri="{BB962C8B-B14F-4D97-AF65-F5344CB8AC3E}">
        <p14:creationId xmlns:p14="http://schemas.microsoft.com/office/powerpoint/2010/main" val="1888960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0D9B3B-BFDC-8CCB-D9DB-5851247B400C}"/>
              </a:ext>
            </a:extLst>
          </p:cNvPr>
          <p:cNvPicPr>
            <a:picLocks noChangeAspect="1"/>
          </p:cNvPicPr>
          <p:nvPr/>
        </p:nvPicPr>
        <p:blipFill>
          <a:blip r:embed="rId2"/>
          <a:srcRect/>
          <a:stretch/>
        </p:blipFill>
        <p:spPr>
          <a:xfrm>
            <a:off x="690113" y="810882"/>
            <a:ext cx="10394831" cy="5581291"/>
          </a:xfrm>
          <a:prstGeom prst="rect">
            <a:avLst/>
          </a:prstGeom>
        </p:spPr>
      </p:pic>
      <p:sp>
        <p:nvSpPr>
          <p:cNvPr id="6" name="TextBox 5">
            <a:extLst>
              <a:ext uri="{FF2B5EF4-FFF2-40B4-BE49-F238E27FC236}">
                <a16:creationId xmlns:a16="http://schemas.microsoft.com/office/drawing/2014/main" id="{141DA082-325A-E98F-4E7B-97E615AB8F35}"/>
              </a:ext>
            </a:extLst>
          </p:cNvPr>
          <p:cNvSpPr txBox="1"/>
          <p:nvPr/>
        </p:nvSpPr>
        <p:spPr>
          <a:xfrm>
            <a:off x="750498" y="315205"/>
            <a:ext cx="6357668" cy="861774"/>
          </a:xfrm>
          <a:prstGeom prst="rect">
            <a:avLst/>
          </a:prstGeom>
          <a:noFill/>
        </p:spPr>
        <p:txBody>
          <a:bodyPr wrap="square" rtlCol="0">
            <a:spAutoFit/>
          </a:bodyPr>
          <a:lstStyle/>
          <a:p>
            <a:r>
              <a:rPr lang="en-US" sz="2500" dirty="0">
                <a:solidFill>
                  <a:schemeClr val="bg1"/>
                </a:solidFill>
                <a:latin typeface="Times New Roman" panose="02020603050405020304" pitchFamily="18" charset="0"/>
                <a:cs typeface="Times New Roman" panose="02020603050405020304" pitchFamily="18" charset="0"/>
              </a:rPr>
              <a:t>SEQUENCE DIAGRAM</a:t>
            </a:r>
          </a:p>
          <a:p>
            <a:endParaRPr lang="en-US" sz="25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729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963EB0-21E5-0609-4CD7-87760AAF8994}"/>
              </a:ext>
            </a:extLst>
          </p:cNvPr>
          <p:cNvPicPr>
            <a:picLocks noChangeAspect="1"/>
          </p:cNvPicPr>
          <p:nvPr/>
        </p:nvPicPr>
        <p:blipFill>
          <a:blip r:embed="rId2"/>
          <a:srcRect/>
          <a:stretch>
            <a:fillRect/>
          </a:stretch>
        </p:blipFill>
        <p:spPr bwMode="auto">
          <a:xfrm>
            <a:off x="3036498" y="0"/>
            <a:ext cx="8341743" cy="6857999"/>
          </a:xfrm>
          <a:prstGeom prst="rect">
            <a:avLst/>
          </a:prstGeom>
        </p:spPr>
      </p:pic>
      <p:sp>
        <p:nvSpPr>
          <p:cNvPr id="3" name="TextBox 2">
            <a:extLst>
              <a:ext uri="{FF2B5EF4-FFF2-40B4-BE49-F238E27FC236}">
                <a16:creationId xmlns:a16="http://schemas.microsoft.com/office/drawing/2014/main" id="{8C0C1FD4-89FE-719F-7F7D-2F11DA9B7524}"/>
              </a:ext>
            </a:extLst>
          </p:cNvPr>
          <p:cNvSpPr txBox="1"/>
          <p:nvPr/>
        </p:nvSpPr>
        <p:spPr>
          <a:xfrm>
            <a:off x="293298" y="2266145"/>
            <a:ext cx="2924355" cy="861774"/>
          </a:xfrm>
          <a:prstGeom prst="rect">
            <a:avLst/>
          </a:prstGeom>
          <a:noFill/>
        </p:spPr>
        <p:txBody>
          <a:bodyPr wrap="square" rtlCol="0">
            <a:spAutoFit/>
          </a:bodyPr>
          <a:lstStyle/>
          <a:p>
            <a:r>
              <a:rPr lang="en-US" sz="2500" dirty="0">
                <a:solidFill>
                  <a:schemeClr val="bg1"/>
                </a:solidFill>
                <a:latin typeface="Times New Roman" panose="02020603050405020304" pitchFamily="18" charset="0"/>
                <a:cs typeface="Times New Roman" panose="02020603050405020304" pitchFamily="18" charset="0"/>
              </a:rPr>
              <a:t>ACTIVITY      	DIAGRAM</a:t>
            </a:r>
          </a:p>
        </p:txBody>
      </p:sp>
    </p:spTree>
    <p:extLst>
      <p:ext uri="{BB962C8B-B14F-4D97-AF65-F5344CB8AC3E}">
        <p14:creationId xmlns:p14="http://schemas.microsoft.com/office/powerpoint/2010/main" val="1354756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Module Description</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3412843855"/>
              </p:ext>
            </p:extLst>
          </p:nvPr>
        </p:nvGraphicFramePr>
        <p:xfrm>
          <a:off x="640080" y="1371600"/>
          <a:ext cx="10881360" cy="4535424"/>
        </p:xfrm>
        <a:graphic>
          <a:graphicData uri="http://schemas.openxmlformats.org/drawingml/2006/table">
            <a:tbl>
              <a:tblPr/>
              <a:tblGrid>
                <a:gridCol w="5486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731520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latin typeface="Avenir Next LT Pro" pitchFamily="34" charset="0"/>
                          <a:ea typeface="Avenir Next LT Pro" pitchFamily="34" charset="-122"/>
                          <a:cs typeface="Avenir Next LT Pro" pitchFamily="34" charset="-120"/>
                        </a:rPr>
                        <a:t>#</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400" b="1" dirty="0">
                          <a:solidFill>
                            <a:srgbClr val="FFFFFF"/>
                          </a:solidFill>
                          <a:latin typeface="Avenir Next LT Pro" pitchFamily="34" charset="0"/>
                          <a:ea typeface="Avenir Next LT Pro" pitchFamily="34" charset="-122"/>
                          <a:cs typeface="Avenir Next LT Pro" pitchFamily="34" charset="-120"/>
                        </a:rPr>
                        <a:t> User Module</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400" b="1" dirty="0">
                          <a:solidFill>
                            <a:srgbClr val="FFFFFF"/>
                          </a:solidFill>
                          <a:latin typeface="Avenir Next LT Pro" pitchFamily="34" charset="0"/>
                          <a:ea typeface="Avenir Next LT Pro" pitchFamily="34" charset="-122"/>
                          <a:cs typeface="Avenir Next LT Pro" pitchFamily="34" charset="-120"/>
                        </a:rPr>
                        <a:t>Responsibility</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201449"/>
                          </a:solidFill>
                          <a:latin typeface="Avenir Next LT Pro" pitchFamily="34" charset="0"/>
                          <a:ea typeface="Avenir Next LT Pro" pitchFamily="34" charset="-122"/>
                          <a:cs typeface="Avenir Next LT Pro" pitchFamily="34" charset="-120"/>
                        </a:rPr>
                        <a:t>1</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User Details and Settings</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Collect, validate and store name, blood group, emergency number</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201449"/>
                          </a:solidFill>
                          <a:latin typeface="Avenir Next LT Pro" pitchFamily="34" charset="0"/>
                          <a:ea typeface="Avenir Next LT Pro" pitchFamily="34" charset="-122"/>
                          <a:cs typeface="Avenir Next LT Pro" pitchFamily="34" charset="-120"/>
                        </a:rPr>
                        <a:t>2</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Detection Control</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ON/OFF switch; checks details exist; starts sensor listening</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201449"/>
                          </a:solidFill>
                          <a:latin typeface="Avenir Next LT Pro" pitchFamily="34" charset="0"/>
                          <a:ea typeface="Avenir Next LT Pro" pitchFamily="34" charset="-122"/>
                          <a:cs typeface="Avenir Next LT Pro" pitchFamily="34" charset="-120"/>
                        </a:rPr>
                        <a:t>3</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Sensor Monitoring</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Computes magnitude; applies window, threshold, spike, cooldown</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201449"/>
                          </a:solidFill>
                          <a:latin typeface="Avenir Next LT Pro" pitchFamily="34" charset="0"/>
                          <a:ea typeface="Avenir Next LT Pro" pitchFamily="34" charset="-122"/>
                          <a:cs typeface="Avenir Next LT Pro" pitchFamily="34" charset="-120"/>
                        </a:rPr>
                        <a:t>4</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Alert Generation</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Looping alarm; confirmation period to cancel</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201449"/>
                          </a:solidFill>
                          <a:latin typeface="Avenir Next LT Pro" pitchFamily="34" charset="0"/>
                          <a:ea typeface="Avenir Next LT Pro" pitchFamily="34" charset="-122"/>
                          <a:cs typeface="Avenir Next LT Pro" pitchFamily="34" charset="-120"/>
                        </a:rPr>
                        <a:t>5</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Location Tracking</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Checks permission; gets position; builds Maps link</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201449"/>
                          </a:solidFill>
                          <a:latin typeface="Avenir Next LT Pro" pitchFamily="34" charset="0"/>
                          <a:ea typeface="Avenir Next LT Pro" pitchFamily="34" charset="-122"/>
                          <a:cs typeface="Avenir Next LT Pro" pitchFamily="34" charset="-120"/>
                        </a:rPr>
                        <a:t>6</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Emergency Message</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Builds message; opens SMS composer; keeps unsent text on failure</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buNone/>
                      </a:pPr>
                      <a:r>
                        <a:rPr lang="en-US" sz="1400" b="1" dirty="0">
                          <a:solidFill>
                            <a:srgbClr val="201449"/>
                          </a:solidFill>
                          <a:latin typeface="Avenir Next LT Pro" pitchFamily="34" charset="0"/>
                          <a:ea typeface="Avenir Next LT Pro" pitchFamily="34" charset="-122"/>
                          <a:cs typeface="Avenir Next LT Pro" pitchFamily="34" charset="-120"/>
                        </a:rPr>
                        <a:t>7</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Storage and Permissions</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400" dirty="0">
                          <a:solidFill>
                            <a:srgbClr val="201449"/>
                          </a:solidFill>
                          <a:latin typeface="Avenir Next LT Pro" pitchFamily="34" charset="0"/>
                          <a:ea typeface="Avenir Next LT Pro" pitchFamily="34" charset="-122"/>
                          <a:cs typeface="Avenir Next LT Pro" pitchFamily="34" charset="-120"/>
                        </a:rPr>
                        <a:t>SharedPreferences and runtime permissions</a:t>
                      </a:r>
                      <a:endParaRPr lang="en-US" sz="14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Algorithm / Methodology</a:t>
            </a:r>
            <a:endParaRPr lang="en-US" sz="3200" dirty="0"/>
          </a:p>
        </p:txBody>
      </p:sp>
      <p:sp>
        <p:nvSpPr>
          <p:cNvPr id="4" name="Formula"/>
          <p:cNvSpPr/>
          <p:nvPr/>
        </p:nvSpPr>
        <p:spPr>
          <a:xfrm>
            <a:off x="640080" y="1371600"/>
            <a:ext cx="5760720" cy="1554480"/>
          </a:xfrm>
          <a:prstGeom prst="roundRect">
            <a:avLst>
              <a:gd name="adj" fmla="val 7059"/>
            </a:avLst>
          </a:prstGeom>
          <a:solidFill>
            <a:srgbClr val="FFFFFF">
              <a:alpha val="92000"/>
            </a:srgbClr>
          </a:solidFill>
          <a:ln w="9525">
            <a:solidFill>
              <a:srgbClr val="FFFFFF">
                <a:alpha val="40000"/>
              </a:srgbClr>
            </a:solidFill>
            <a:prstDash val="solid"/>
          </a:ln>
        </p:spPr>
      </p:sp>
      <p:sp>
        <p:nvSpPr>
          <p:cNvPr id="5" name="Text 2"/>
          <p:cNvSpPr txBox="1"/>
          <p:nvPr/>
        </p:nvSpPr>
        <p:spPr>
          <a:xfrm>
            <a:off x="640080" y="1371600"/>
            <a:ext cx="5760720" cy="1554480"/>
          </a:xfrm>
          <a:prstGeom prst="rect">
            <a:avLst/>
          </a:prstGeom>
          <a:noFill/>
          <a:ln/>
        </p:spPr>
        <p:txBody>
          <a:bodyPr wrap="square" lIns="0" tIns="0" rIns="0" bIns="0" rtlCol="0" anchor="ctr"/>
          <a:lstStyle/>
          <a:p>
            <a:pPr marL="0" indent="0" algn="ctr">
              <a:buNone/>
            </a:pPr>
            <a:r>
              <a:rPr lang="en-US" sz="3400" b="1" dirty="0">
                <a:solidFill>
                  <a:srgbClr val="201449"/>
                </a:solidFill>
                <a:latin typeface="Avenir Next LT Pro" pitchFamily="34" charset="0"/>
                <a:ea typeface="Avenir Next LT Pro" pitchFamily="34" charset="-122"/>
                <a:cs typeface="Avenir Next LT Pro" pitchFamily="34" charset="-120"/>
              </a:rPr>
              <a:t>M = √(x² + y² + z²)</a:t>
            </a:r>
            <a:endParaRPr lang="en-US" sz="3400" dirty="0"/>
          </a:p>
        </p:txBody>
      </p:sp>
      <p:sp>
        <p:nvSpPr>
          <p:cNvPr id="6" name="Trigger"/>
          <p:cNvSpPr/>
          <p:nvPr/>
        </p:nvSpPr>
        <p:spPr>
          <a:xfrm>
            <a:off x="640080" y="3154680"/>
            <a:ext cx="5760720" cy="1828800"/>
          </a:xfrm>
          <a:prstGeom prst="roundRect">
            <a:avLst>
              <a:gd name="adj" fmla="val 6000"/>
            </a:avLst>
          </a:prstGeom>
          <a:solidFill>
            <a:srgbClr val="201449">
              <a:alpha val="45000"/>
            </a:srgbClr>
          </a:solidFill>
          <a:ln w="9525">
            <a:solidFill>
              <a:srgbClr val="FFFFFF">
                <a:alpha val="40000"/>
              </a:srgbClr>
            </a:solidFill>
            <a:prstDash val="solid"/>
          </a:ln>
        </p:spPr>
      </p:sp>
      <p:sp>
        <p:nvSpPr>
          <p:cNvPr id="7" name="Text 4"/>
          <p:cNvSpPr txBox="1"/>
          <p:nvPr/>
        </p:nvSpPr>
        <p:spPr>
          <a:xfrm>
            <a:off x="914400" y="3291840"/>
            <a:ext cx="5212080" cy="365760"/>
          </a:xfrm>
          <a:prstGeom prst="rect">
            <a:avLst/>
          </a:prstGeom>
          <a:noFill/>
          <a:ln/>
        </p:spPr>
        <p:txBody>
          <a:bodyPr wrap="square" lIns="0" tIns="0" rIns="0" bIns="0" rtlCol="0" anchor="t"/>
          <a:lstStyle/>
          <a:p>
            <a:pPr marL="0" indent="0">
              <a:buNone/>
            </a:pPr>
            <a:r>
              <a:rPr lang="en-US" sz="1500" b="1" dirty="0">
                <a:solidFill>
                  <a:srgbClr val="FFFFFF"/>
                </a:solidFill>
                <a:latin typeface="Avenir Next LT Pro" pitchFamily="34" charset="0"/>
                <a:ea typeface="Avenir Next LT Pro" pitchFamily="34" charset="-122"/>
                <a:cs typeface="Avenir Next LT Pro" pitchFamily="34" charset="-120"/>
              </a:rPr>
              <a:t>Trigger when either holds</a:t>
            </a:r>
            <a:endParaRPr lang="en-US" sz="1500" dirty="0"/>
          </a:p>
        </p:txBody>
      </p:sp>
      <p:sp>
        <p:nvSpPr>
          <p:cNvPr id="8" name="Text 5"/>
          <p:cNvSpPr txBox="1"/>
          <p:nvPr/>
        </p:nvSpPr>
        <p:spPr>
          <a:xfrm>
            <a:off x="914400" y="3749040"/>
            <a:ext cx="5212080" cy="822960"/>
          </a:xfrm>
          <a:prstGeom prst="rect">
            <a:avLst/>
          </a:prstGeom>
          <a:noFill/>
          <a:ln/>
        </p:spPr>
        <p:txBody>
          <a:bodyPr wrap="square" lIns="0" tIns="0" rIns="0" bIns="0" rtlCol="0" anchor="t"/>
          <a:lstStyle/>
          <a:p>
            <a:pPr marL="0" indent="0">
              <a:buNone/>
            </a:pPr>
            <a:r>
              <a:rPr lang="en-US" sz="1600" b="1" dirty="0">
                <a:solidFill>
                  <a:srgbClr val="FFFFFF"/>
                </a:solidFill>
                <a:latin typeface="Courier New" pitchFamily="34" charset="0"/>
                <a:ea typeface="Courier New" pitchFamily="34" charset="-122"/>
                <a:cs typeface="Courier New" pitchFamily="34" charset="-120"/>
              </a:rPr>
              <a:t>M &gt; 25.0</a:t>
            </a:r>
            <a:endParaRPr lang="en-US" sz="1600" dirty="0"/>
          </a:p>
          <a:p>
            <a:pPr marL="0" indent="0">
              <a:buNone/>
            </a:pPr>
            <a:r>
              <a:rPr lang="en-US" sz="1600" b="1" dirty="0">
                <a:solidFill>
                  <a:srgbClr val="FFFFFF"/>
                </a:solidFill>
                <a:latin typeface="Courier New" pitchFamily="34" charset="0"/>
                <a:ea typeface="Courier New" pitchFamily="34" charset="-122"/>
                <a:cs typeface="Courier New" pitchFamily="34" charset="-120"/>
              </a:rPr>
              <a:t>OR  M - window average &gt; 12.0</a:t>
            </a:r>
            <a:endParaRPr lang="en-US" sz="1600" dirty="0"/>
          </a:p>
        </p:txBody>
      </p:sp>
      <p:sp>
        <p:nvSpPr>
          <p:cNvPr id="9" name="Text 6"/>
          <p:cNvSpPr txBox="1"/>
          <p:nvPr/>
        </p:nvSpPr>
        <p:spPr>
          <a:xfrm>
            <a:off x="914400" y="4572000"/>
            <a:ext cx="5212080" cy="365760"/>
          </a:xfrm>
          <a:prstGeom prst="rect">
            <a:avLst/>
          </a:prstGeom>
          <a:noFill/>
          <a:ln/>
        </p:spPr>
        <p:txBody>
          <a:bodyPr wrap="square" lIns="0" tIns="0" rIns="0" bIns="0" rtlCol="0" anchor="t"/>
          <a:lstStyle/>
          <a:p>
            <a:pPr marL="0" indent="0">
              <a:buNone/>
            </a:pPr>
            <a:r>
              <a:rPr lang="en-US" sz="1200" dirty="0">
                <a:solidFill>
                  <a:srgbClr val="FFFFFF"/>
                </a:solidFill>
                <a:latin typeface="Avenir Next LT Pro" pitchFamily="34" charset="0"/>
                <a:ea typeface="Avenir Next LT Pro" pitchFamily="34" charset="-122"/>
                <a:cs typeface="Avenir Next LT Pro" pitchFamily="34" charset="-120"/>
              </a:rPr>
              <a:t>then check cooldown, alarm, 20 s cancel window, GPS, SMS</a:t>
            </a:r>
            <a:endParaRPr lang="en-US" sz="1200" dirty="0"/>
          </a:p>
        </p:txBody>
      </p:sp>
      <p:sp>
        <p:nvSpPr>
          <p:cNvPr id="12" name="Stat readings in sliding window"/>
          <p:cNvSpPr/>
          <p:nvPr/>
        </p:nvSpPr>
        <p:spPr>
          <a:xfrm>
            <a:off x="6675120" y="1371600"/>
            <a:ext cx="2377440" cy="2286000"/>
          </a:xfrm>
          <a:prstGeom prst="roundRect">
            <a:avLst>
              <a:gd name="adj" fmla="val 4800"/>
            </a:avLst>
          </a:prstGeom>
          <a:solidFill>
            <a:srgbClr val="201449">
              <a:alpha val="45000"/>
            </a:srgbClr>
          </a:solidFill>
          <a:ln w="9525">
            <a:solidFill>
              <a:srgbClr val="FFFFFF">
                <a:alpha val="40000"/>
              </a:srgbClr>
            </a:solidFill>
            <a:prstDash val="solid"/>
          </a:ln>
        </p:spPr>
      </p:sp>
      <p:sp>
        <p:nvSpPr>
          <p:cNvPr id="13" name="Text 10"/>
          <p:cNvSpPr txBox="1"/>
          <p:nvPr/>
        </p:nvSpPr>
        <p:spPr>
          <a:xfrm>
            <a:off x="6675120" y="1691640"/>
            <a:ext cx="237744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Avenir Next LT Pro" pitchFamily="34" charset="0"/>
                <a:ea typeface="Avenir Next LT Pro" pitchFamily="34" charset="-122"/>
                <a:cs typeface="Avenir Next LT Pro" pitchFamily="34" charset="-120"/>
              </a:rPr>
              <a:t>8</a:t>
            </a:r>
            <a:endParaRPr lang="en-US" sz="4400" dirty="0"/>
          </a:p>
        </p:txBody>
      </p:sp>
      <p:sp>
        <p:nvSpPr>
          <p:cNvPr id="14" name="Text 11"/>
          <p:cNvSpPr txBox="1"/>
          <p:nvPr/>
        </p:nvSpPr>
        <p:spPr>
          <a:xfrm>
            <a:off x="6858000" y="2834640"/>
            <a:ext cx="2011680" cy="640080"/>
          </a:xfrm>
          <a:prstGeom prst="rect">
            <a:avLst/>
          </a:prstGeom>
          <a:noFill/>
          <a:ln/>
        </p:spPr>
        <p:txBody>
          <a:bodyPr wrap="square" lIns="0" tIns="0" rIns="0" bIns="0" rtlCol="0" anchor="t"/>
          <a:lstStyle/>
          <a:p>
            <a:pPr marL="0" indent="0" algn="ctr">
              <a:buNone/>
            </a:pPr>
            <a:r>
              <a:rPr lang="en-US" sz="1200" dirty="0">
                <a:solidFill>
                  <a:srgbClr val="FFFFFF"/>
                </a:solidFill>
                <a:latin typeface="Avenir Next LT Pro" pitchFamily="34" charset="0"/>
                <a:ea typeface="Avenir Next LT Pro" pitchFamily="34" charset="-122"/>
                <a:cs typeface="Avenir Next LT Pro" pitchFamily="34" charset="-120"/>
              </a:rPr>
              <a:t>readings in sliding window</a:t>
            </a:r>
            <a:endParaRPr lang="en-US" sz="1200" dirty="0"/>
          </a:p>
        </p:txBody>
      </p:sp>
      <p:sp>
        <p:nvSpPr>
          <p:cNvPr id="15" name="Stat absolute threshold"/>
          <p:cNvSpPr/>
          <p:nvPr/>
        </p:nvSpPr>
        <p:spPr>
          <a:xfrm>
            <a:off x="9189720" y="1371600"/>
            <a:ext cx="2377440" cy="2286000"/>
          </a:xfrm>
          <a:prstGeom prst="roundRect">
            <a:avLst>
              <a:gd name="adj" fmla="val 4800"/>
            </a:avLst>
          </a:prstGeom>
          <a:solidFill>
            <a:srgbClr val="201449">
              <a:alpha val="45000"/>
            </a:srgbClr>
          </a:solidFill>
          <a:ln w="9525">
            <a:solidFill>
              <a:srgbClr val="FFFFFF">
                <a:alpha val="40000"/>
              </a:srgbClr>
            </a:solidFill>
            <a:prstDash val="solid"/>
          </a:ln>
        </p:spPr>
      </p:sp>
      <p:sp>
        <p:nvSpPr>
          <p:cNvPr id="16" name="Text 13"/>
          <p:cNvSpPr txBox="1"/>
          <p:nvPr/>
        </p:nvSpPr>
        <p:spPr>
          <a:xfrm>
            <a:off x="9189720" y="1691640"/>
            <a:ext cx="237744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Avenir Next LT Pro" pitchFamily="34" charset="0"/>
                <a:ea typeface="Avenir Next LT Pro" pitchFamily="34" charset="-122"/>
                <a:cs typeface="Avenir Next LT Pro" pitchFamily="34" charset="-120"/>
              </a:rPr>
              <a:t>25.0</a:t>
            </a:r>
            <a:endParaRPr lang="en-US" sz="4400" dirty="0"/>
          </a:p>
        </p:txBody>
      </p:sp>
      <p:sp>
        <p:nvSpPr>
          <p:cNvPr id="17" name="Text 14"/>
          <p:cNvSpPr txBox="1"/>
          <p:nvPr/>
        </p:nvSpPr>
        <p:spPr>
          <a:xfrm>
            <a:off x="9372600" y="2834640"/>
            <a:ext cx="2011680" cy="640080"/>
          </a:xfrm>
          <a:prstGeom prst="rect">
            <a:avLst/>
          </a:prstGeom>
          <a:noFill/>
          <a:ln/>
        </p:spPr>
        <p:txBody>
          <a:bodyPr wrap="square" lIns="0" tIns="0" rIns="0" bIns="0" rtlCol="0" anchor="t"/>
          <a:lstStyle/>
          <a:p>
            <a:pPr marL="0" indent="0" algn="ctr">
              <a:buNone/>
            </a:pPr>
            <a:r>
              <a:rPr lang="en-US" sz="1200" dirty="0">
                <a:solidFill>
                  <a:srgbClr val="FFFFFF"/>
                </a:solidFill>
                <a:latin typeface="Avenir Next LT Pro" pitchFamily="34" charset="0"/>
                <a:ea typeface="Avenir Next LT Pro" pitchFamily="34" charset="-122"/>
                <a:cs typeface="Avenir Next LT Pro" pitchFamily="34" charset="-120"/>
              </a:rPr>
              <a:t>absolute threshold</a:t>
            </a:r>
            <a:endParaRPr lang="en-US" sz="1200" dirty="0"/>
          </a:p>
        </p:txBody>
      </p:sp>
      <p:sp>
        <p:nvSpPr>
          <p:cNvPr id="18" name="Stat spike delta"/>
          <p:cNvSpPr/>
          <p:nvPr/>
        </p:nvSpPr>
        <p:spPr>
          <a:xfrm>
            <a:off x="6675120" y="3840480"/>
            <a:ext cx="2377440" cy="2286000"/>
          </a:xfrm>
          <a:prstGeom prst="roundRect">
            <a:avLst>
              <a:gd name="adj" fmla="val 4800"/>
            </a:avLst>
          </a:prstGeom>
          <a:solidFill>
            <a:srgbClr val="201449">
              <a:alpha val="45000"/>
            </a:srgbClr>
          </a:solidFill>
          <a:ln w="9525">
            <a:solidFill>
              <a:srgbClr val="FFFFFF">
                <a:alpha val="40000"/>
              </a:srgbClr>
            </a:solidFill>
            <a:prstDash val="solid"/>
          </a:ln>
        </p:spPr>
      </p:sp>
      <p:sp>
        <p:nvSpPr>
          <p:cNvPr id="19" name="Text 16"/>
          <p:cNvSpPr txBox="1"/>
          <p:nvPr/>
        </p:nvSpPr>
        <p:spPr>
          <a:xfrm>
            <a:off x="6675120" y="4160520"/>
            <a:ext cx="237744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Avenir Next LT Pro" pitchFamily="34" charset="0"/>
                <a:ea typeface="Avenir Next LT Pro" pitchFamily="34" charset="-122"/>
                <a:cs typeface="Avenir Next LT Pro" pitchFamily="34" charset="-120"/>
              </a:rPr>
              <a:t>12.0</a:t>
            </a:r>
            <a:endParaRPr lang="en-US" sz="4400" dirty="0"/>
          </a:p>
        </p:txBody>
      </p:sp>
      <p:sp>
        <p:nvSpPr>
          <p:cNvPr id="20" name="Text 17"/>
          <p:cNvSpPr txBox="1"/>
          <p:nvPr/>
        </p:nvSpPr>
        <p:spPr>
          <a:xfrm>
            <a:off x="6858000" y="5303520"/>
            <a:ext cx="2011680" cy="640080"/>
          </a:xfrm>
          <a:prstGeom prst="rect">
            <a:avLst/>
          </a:prstGeom>
          <a:noFill/>
          <a:ln/>
        </p:spPr>
        <p:txBody>
          <a:bodyPr wrap="square" lIns="0" tIns="0" rIns="0" bIns="0" rtlCol="0" anchor="t"/>
          <a:lstStyle/>
          <a:p>
            <a:pPr marL="0" indent="0" algn="ctr">
              <a:buNone/>
            </a:pPr>
            <a:r>
              <a:rPr lang="en-US" sz="1200" dirty="0">
                <a:solidFill>
                  <a:srgbClr val="FFFFFF"/>
                </a:solidFill>
                <a:latin typeface="Avenir Next LT Pro" pitchFamily="34" charset="0"/>
                <a:ea typeface="Avenir Next LT Pro" pitchFamily="34" charset="-122"/>
                <a:cs typeface="Avenir Next LT Pro" pitchFamily="34" charset="-120"/>
              </a:rPr>
              <a:t>spike delta</a:t>
            </a:r>
            <a:endParaRPr lang="en-US" sz="1200" dirty="0"/>
          </a:p>
        </p:txBody>
      </p:sp>
      <p:sp>
        <p:nvSpPr>
          <p:cNvPr id="21" name="Stat cooldown"/>
          <p:cNvSpPr/>
          <p:nvPr/>
        </p:nvSpPr>
        <p:spPr>
          <a:xfrm>
            <a:off x="9189720" y="3840480"/>
            <a:ext cx="2377440" cy="2286000"/>
          </a:xfrm>
          <a:prstGeom prst="roundRect">
            <a:avLst>
              <a:gd name="adj" fmla="val 4800"/>
            </a:avLst>
          </a:prstGeom>
          <a:solidFill>
            <a:srgbClr val="201449">
              <a:alpha val="45000"/>
            </a:srgbClr>
          </a:solidFill>
          <a:ln w="9525">
            <a:solidFill>
              <a:srgbClr val="FFFFFF">
                <a:alpha val="40000"/>
              </a:srgbClr>
            </a:solidFill>
            <a:prstDash val="solid"/>
          </a:ln>
        </p:spPr>
      </p:sp>
      <p:sp>
        <p:nvSpPr>
          <p:cNvPr id="22" name="Text 19"/>
          <p:cNvSpPr txBox="1"/>
          <p:nvPr/>
        </p:nvSpPr>
        <p:spPr>
          <a:xfrm>
            <a:off x="9189720" y="4160520"/>
            <a:ext cx="237744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Avenir Next LT Pro" pitchFamily="34" charset="0"/>
                <a:ea typeface="Avenir Next LT Pro" pitchFamily="34" charset="-122"/>
                <a:cs typeface="Avenir Next LT Pro" pitchFamily="34" charset="-120"/>
              </a:rPr>
              <a:t>8 s</a:t>
            </a:r>
            <a:endParaRPr lang="en-US" sz="4400" dirty="0"/>
          </a:p>
        </p:txBody>
      </p:sp>
      <p:sp>
        <p:nvSpPr>
          <p:cNvPr id="23" name="Text 20"/>
          <p:cNvSpPr txBox="1"/>
          <p:nvPr/>
        </p:nvSpPr>
        <p:spPr>
          <a:xfrm>
            <a:off x="9372600" y="5303520"/>
            <a:ext cx="2011680" cy="640080"/>
          </a:xfrm>
          <a:prstGeom prst="rect">
            <a:avLst/>
          </a:prstGeom>
          <a:noFill/>
          <a:ln/>
        </p:spPr>
        <p:txBody>
          <a:bodyPr wrap="square" lIns="0" tIns="0" rIns="0" bIns="0" rtlCol="0" anchor="t"/>
          <a:lstStyle/>
          <a:p>
            <a:pPr marL="0" indent="0" algn="ctr">
              <a:buNone/>
            </a:pPr>
            <a:r>
              <a:rPr lang="en-US" sz="1200" dirty="0">
                <a:solidFill>
                  <a:srgbClr val="FFFFFF"/>
                </a:solidFill>
                <a:latin typeface="Avenir Next LT Pro" pitchFamily="34" charset="0"/>
                <a:ea typeface="Avenir Next LT Pro" pitchFamily="34" charset="-122"/>
                <a:cs typeface="Avenir Next LT Pro" pitchFamily="34" charset="-120"/>
              </a:rPr>
              <a:t>cooldown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Results / Analysis</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2900743893"/>
              </p:ext>
            </p:extLst>
          </p:nvPr>
        </p:nvGraphicFramePr>
        <p:xfrm>
          <a:off x="640080" y="1371600"/>
          <a:ext cx="6766560" cy="4507992"/>
        </p:xfrm>
        <a:graphic>
          <a:graphicData uri="http://schemas.openxmlformats.org/drawingml/2006/table">
            <a:tbl>
              <a:tblPr/>
              <a:tblGrid>
                <a:gridCol w="20116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63499">
                <a:tc>
                  <a:txBody>
                    <a:bodyPr/>
                    <a:lstStyle/>
                    <a:p>
                      <a:pPr marL="0" indent="0">
                        <a:buNone/>
                      </a:pPr>
                      <a:r>
                        <a:rPr lang="en-US" sz="1200" b="1" dirty="0">
                          <a:solidFill>
                            <a:srgbClr val="FFFFFF"/>
                          </a:solidFill>
                          <a:latin typeface="Avenir Next LT Pro" pitchFamily="34" charset="0"/>
                          <a:ea typeface="Avenir Next LT Pro" pitchFamily="34" charset="-122"/>
                          <a:cs typeface="Avenir Next LT Pro" pitchFamily="34" charset="-120"/>
                        </a:rPr>
                        <a:t>Function</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200" b="1" dirty="0">
                          <a:solidFill>
                            <a:srgbClr val="FFFFFF"/>
                          </a:solidFill>
                          <a:latin typeface="Avenir Next LT Pro" pitchFamily="34" charset="0"/>
                          <a:ea typeface="Avenir Next LT Pro" pitchFamily="34" charset="-122"/>
                          <a:cs typeface="Avenir Next LT Pro" pitchFamily="34" charset="-120"/>
                        </a:rPr>
                        <a:t>Observed result</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200" b="1" dirty="0">
                          <a:solidFill>
                            <a:srgbClr val="FFFFFF"/>
                          </a:solidFill>
                          <a:latin typeface="Avenir Next LT Pro" pitchFamily="34" charset="0"/>
                          <a:ea typeface="Avenir Next LT Pro" pitchFamily="34" charset="-122"/>
                          <a:cs typeface="Avenir Next LT Pro" pitchFamily="34" charset="-120"/>
                        </a:rPr>
                        <a:t>Status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563499">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Details storage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Saved; persist after reopening</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7A61"/>
                          </a:solidFill>
                          <a:latin typeface="Avenir Next LT Pro" pitchFamily="34" charset="0"/>
                          <a:ea typeface="Avenir Next LT Pro" pitchFamily="34" charset="-122"/>
                          <a:cs typeface="Avenir Next LT Pro" pitchFamily="34" charset="-120"/>
                        </a:rPr>
                        <a:t>Pass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1"/>
                  </a:ext>
                </a:extLst>
              </a:tr>
              <a:tr h="563499">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Detection toggle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Monitoring starts and stops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7A61"/>
                          </a:solidFill>
                          <a:latin typeface="Avenir Next LT Pro" pitchFamily="34" charset="0"/>
                          <a:ea typeface="Avenir Next LT Pro" pitchFamily="34" charset="-122"/>
                          <a:cs typeface="Avenir Next LT Pro" pitchFamily="34" charset="-120"/>
                        </a:rPr>
                        <a:t>Pass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2"/>
                  </a:ext>
                </a:extLst>
              </a:tr>
              <a:tr h="563499">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Normal movement</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No alert</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7A61"/>
                          </a:solidFill>
                          <a:latin typeface="Avenir Next LT Pro" pitchFamily="34" charset="0"/>
                          <a:ea typeface="Avenir Next LT Pro" pitchFamily="34" charset="-122"/>
                          <a:cs typeface="Avenir Next LT Pro" pitchFamily="34" charset="-120"/>
                        </a:rPr>
                        <a:t>Pass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3"/>
                  </a:ext>
                </a:extLst>
              </a:tr>
              <a:tr h="563499">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Abnormal motion</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Warning under strong simulated motion</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7A61"/>
                          </a:solidFill>
                          <a:latin typeface="Avenir Next LT Pro" pitchFamily="34" charset="0"/>
                          <a:ea typeface="Avenir Next LT Pro" pitchFamily="34" charset="-122"/>
                          <a:cs typeface="Avenir Next LT Pro" pitchFamily="34" charset="-120"/>
                        </a:rPr>
                        <a:t>Pass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4"/>
                  </a:ext>
                </a:extLst>
              </a:tr>
              <a:tr h="563499">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False-alert cancel</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Alarm stops; no SMS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7A61"/>
                          </a:solidFill>
                          <a:latin typeface="Avenir Next LT Pro" pitchFamily="34" charset="0"/>
                          <a:ea typeface="Avenir Next LT Pro" pitchFamily="34" charset="-122"/>
                          <a:cs typeface="Avenir Next LT Pro" pitchFamily="34" charset="-120"/>
                        </a:rPr>
                        <a:t>Pass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5"/>
                  </a:ext>
                </a:extLst>
              </a:tr>
              <a:tr h="563499">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GPS location</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Maps link opens correct place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7A61"/>
                          </a:solidFill>
                          <a:latin typeface="Avenir Next LT Pro" pitchFamily="34" charset="0"/>
                          <a:ea typeface="Avenir Next LT Pro" pitchFamily="34" charset="-122"/>
                          <a:cs typeface="Avenir Next LT Pro" pitchFamily="34" charset="-120"/>
                        </a:rPr>
                        <a:t>Pass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6"/>
                  </a:ext>
                </a:extLst>
              </a:tr>
              <a:tr h="563499">
                <a:tc>
                  <a:txBody>
                    <a:bodyPr/>
                    <a:lstStyle/>
                    <a:p>
                      <a:pPr marL="0" indent="0">
                        <a:buNone/>
                      </a:pPr>
                      <a:r>
                        <a:rPr lang="en-US" sz="1200" b="1" dirty="0">
                          <a:solidFill>
                            <a:srgbClr val="201449"/>
                          </a:solidFill>
                          <a:latin typeface="Avenir Next LT Pro" pitchFamily="34" charset="0"/>
                          <a:ea typeface="Avenir Next LT Pro" pitchFamily="34" charset="-122"/>
                          <a:cs typeface="Avenir Next LT Pro" pitchFamily="34" charset="-120"/>
                        </a:rPr>
                        <a:t>Emergency message</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200" dirty="0">
                          <a:solidFill>
                            <a:srgbClr val="201449"/>
                          </a:solidFill>
                          <a:latin typeface="Avenir Next LT Pro" pitchFamily="34" charset="0"/>
                          <a:ea typeface="Avenir Next LT Pro" pitchFamily="34" charset="-122"/>
                          <a:cs typeface="Avenir Next LT Pro" pitchFamily="34" charset="-120"/>
                        </a:rPr>
                        <a:t>Name, blood group, link included</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7A61"/>
                          </a:solidFill>
                          <a:latin typeface="Avenir Next LT Pro" pitchFamily="34" charset="0"/>
                          <a:ea typeface="Avenir Next LT Pro" pitchFamily="34" charset="-122"/>
                          <a:cs typeface="Avenir Next LT Pro" pitchFamily="34" charset="-120"/>
                        </a:rPr>
                        <a:t>Pass</a:t>
                      </a:r>
                      <a:endParaRPr lang="en-US" sz="12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7"/>
                  </a:ext>
                </a:extLst>
              </a:tr>
            </a:tbl>
          </a:graphicData>
        </a:graphic>
      </p:graphicFrame>
      <p:sp>
        <p:nvSpPr>
          <p:cNvPr id="7" name="Chart frame"/>
          <p:cNvSpPr/>
          <p:nvPr/>
        </p:nvSpPr>
        <p:spPr>
          <a:xfrm>
            <a:off x="7680960" y="1371600"/>
            <a:ext cx="3840480" cy="4800600"/>
          </a:xfrm>
          <a:prstGeom prst="roundRect">
            <a:avLst>
              <a:gd name="adj" fmla="val 2857"/>
            </a:avLst>
          </a:prstGeom>
          <a:solidFill>
            <a:srgbClr val="FFFFFF">
              <a:alpha val="92000"/>
            </a:srgbClr>
          </a:solidFill>
          <a:ln w="9525">
            <a:solidFill>
              <a:srgbClr val="FFFFFF">
                <a:alpha val="40000"/>
              </a:srgbClr>
            </a:solidFill>
            <a:prstDash val="solid"/>
          </a:ln>
        </p:spPr>
      </p:sp>
      <p:sp>
        <p:nvSpPr>
          <p:cNvPr id="8" name="Text 4"/>
          <p:cNvSpPr txBox="1"/>
          <p:nvPr/>
        </p:nvSpPr>
        <p:spPr>
          <a:xfrm>
            <a:off x="7818120" y="1463040"/>
            <a:ext cx="3566160" cy="457200"/>
          </a:xfrm>
          <a:prstGeom prst="rect">
            <a:avLst/>
          </a:prstGeom>
          <a:noFill/>
          <a:ln/>
        </p:spPr>
        <p:txBody>
          <a:bodyPr wrap="square" lIns="0" tIns="0" rIns="0" bIns="0" rtlCol="0" anchor="t"/>
          <a:lstStyle/>
          <a:p>
            <a:pPr marL="0" indent="0" algn="ctr">
              <a:buNone/>
            </a:pPr>
            <a:r>
              <a:rPr lang="en-US" sz="1300" b="1" dirty="0">
                <a:solidFill>
                  <a:srgbClr val="201449"/>
                </a:solidFill>
                <a:latin typeface="Avenir Next LT Pro" pitchFamily="34" charset="0"/>
                <a:ea typeface="Avenir Next LT Pro" pitchFamily="34" charset="-122"/>
                <a:cs typeface="Avenir Next LT Pro" pitchFamily="34" charset="-120"/>
              </a:rPr>
              <a:t>Test cases by group (20 of 20 passed)</a:t>
            </a:r>
            <a:endParaRPr lang="en-US" sz="1300" dirty="0"/>
          </a:p>
        </p:txBody>
      </p:sp>
      <p:graphicFrame>
        <p:nvGraphicFramePr>
          <p:cNvPr id="9" name="Chart 0"/>
          <p:cNvGraphicFramePr/>
          <p:nvPr/>
        </p:nvGraphicFramePr>
        <p:xfrm>
          <a:off x="7772400" y="1920240"/>
          <a:ext cx="36576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Screenshots / Output</a:t>
            </a:r>
            <a:endParaRPr lang="en-US" sz="3200" dirty="0"/>
          </a:p>
        </p:txBody>
      </p:sp>
      <p:sp>
        <p:nvSpPr>
          <p:cNvPr id="4" name="Phone frame 1"/>
          <p:cNvSpPr/>
          <p:nvPr/>
        </p:nvSpPr>
        <p:spPr>
          <a:xfrm>
            <a:off x="5165210" y="1268600"/>
            <a:ext cx="1973580" cy="4184242"/>
          </a:xfrm>
          <a:prstGeom prst="roundRect">
            <a:avLst>
              <a:gd name="adj" fmla="val 10256"/>
            </a:avLst>
          </a:prstGeom>
          <a:solidFill>
            <a:srgbClr val="FFFFFF">
              <a:alpha val="90000"/>
            </a:srgbClr>
          </a:solidFill>
          <a:ln w="25400">
            <a:solidFill>
              <a:srgbClr val="201449"/>
            </a:solidFill>
            <a:prstDash val="solid"/>
          </a:ln>
        </p:spPr>
      </p:sp>
      <p:sp>
        <p:nvSpPr>
          <p:cNvPr id="7" name="Phone frame 2"/>
          <p:cNvSpPr/>
          <p:nvPr/>
        </p:nvSpPr>
        <p:spPr>
          <a:xfrm>
            <a:off x="173750" y="1228403"/>
            <a:ext cx="1973580" cy="4184242"/>
          </a:xfrm>
          <a:prstGeom prst="roundRect">
            <a:avLst>
              <a:gd name="adj" fmla="val 10256"/>
            </a:avLst>
          </a:prstGeom>
          <a:solidFill>
            <a:srgbClr val="FFFFFF">
              <a:alpha val="90000"/>
            </a:srgbClr>
          </a:solidFill>
          <a:ln w="25400">
            <a:solidFill>
              <a:srgbClr val="201449"/>
            </a:solidFill>
            <a:prstDash val="solid"/>
          </a:ln>
        </p:spPr>
      </p:sp>
      <p:sp>
        <p:nvSpPr>
          <p:cNvPr id="10" name="Phone frame 3"/>
          <p:cNvSpPr/>
          <p:nvPr/>
        </p:nvSpPr>
        <p:spPr>
          <a:xfrm>
            <a:off x="2514600" y="1228403"/>
            <a:ext cx="1973580" cy="4184242"/>
          </a:xfrm>
          <a:prstGeom prst="roundRect">
            <a:avLst>
              <a:gd name="adj" fmla="val 10256"/>
            </a:avLst>
          </a:prstGeom>
          <a:solidFill>
            <a:srgbClr val="FFFFFF">
              <a:alpha val="90000"/>
            </a:srgbClr>
          </a:solidFill>
          <a:ln w="25400">
            <a:solidFill>
              <a:srgbClr val="201449"/>
            </a:solidFill>
            <a:prstDash val="solid"/>
          </a:ln>
        </p:spPr>
      </p:sp>
      <p:sp>
        <p:nvSpPr>
          <p:cNvPr id="13" name="Phone frame 4"/>
          <p:cNvSpPr/>
          <p:nvPr/>
        </p:nvSpPr>
        <p:spPr>
          <a:xfrm>
            <a:off x="7506060" y="1268600"/>
            <a:ext cx="1913899" cy="4184242"/>
          </a:xfrm>
          <a:prstGeom prst="roundRect">
            <a:avLst>
              <a:gd name="adj" fmla="val 10256"/>
            </a:avLst>
          </a:prstGeom>
          <a:solidFill>
            <a:srgbClr val="FFFFFF">
              <a:alpha val="90000"/>
            </a:srgbClr>
          </a:solidFill>
          <a:ln w="25400">
            <a:solidFill>
              <a:srgbClr val="201449"/>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22</a:t>
            </a:fld>
            <a:endParaRPr lang="en-US"/>
          </a:p>
        </p:txBody>
      </p:sp>
      <p:pic>
        <p:nvPicPr>
          <p:cNvPr id="18" name="Picture 17">
            <a:extLst>
              <a:ext uri="{FF2B5EF4-FFF2-40B4-BE49-F238E27FC236}">
                <a16:creationId xmlns:a16="http://schemas.microsoft.com/office/drawing/2014/main" id="{C6249779-BEBA-32BC-18E9-C5D1EF65348A}"/>
              </a:ext>
            </a:extLst>
          </p:cNvPr>
          <p:cNvPicPr>
            <a:picLocks noChangeAspect="1"/>
          </p:cNvPicPr>
          <p:nvPr/>
        </p:nvPicPr>
        <p:blipFill>
          <a:blip r:embed="rId3"/>
          <a:stretch>
            <a:fillRect/>
          </a:stretch>
        </p:blipFill>
        <p:spPr>
          <a:xfrm>
            <a:off x="173750" y="1445355"/>
            <a:ext cx="1973580" cy="3830733"/>
          </a:xfrm>
          <a:prstGeom prst="rect">
            <a:avLst/>
          </a:prstGeom>
        </p:spPr>
      </p:pic>
      <p:pic>
        <p:nvPicPr>
          <p:cNvPr id="20" name="Picture 19">
            <a:extLst>
              <a:ext uri="{FF2B5EF4-FFF2-40B4-BE49-F238E27FC236}">
                <a16:creationId xmlns:a16="http://schemas.microsoft.com/office/drawing/2014/main" id="{8DF996CA-541C-CEFE-1A66-C5911BB56353}"/>
              </a:ext>
            </a:extLst>
          </p:cNvPr>
          <p:cNvPicPr>
            <a:picLocks noChangeAspect="1"/>
          </p:cNvPicPr>
          <p:nvPr/>
        </p:nvPicPr>
        <p:blipFill>
          <a:blip r:embed="rId4"/>
          <a:stretch>
            <a:fillRect/>
          </a:stretch>
        </p:blipFill>
        <p:spPr>
          <a:xfrm>
            <a:off x="2514600" y="1399333"/>
            <a:ext cx="1966031" cy="3830733"/>
          </a:xfrm>
          <a:prstGeom prst="rect">
            <a:avLst/>
          </a:prstGeom>
        </p:spPr>
      </p:pic>
      <p:pic>
        <p:nvPicPr>
          <p:cNvPr id="22" name="Picture 21">
            <a:extLst>
              <a:ext uri="{FF2B5EF4-FFF2-40B4-BE49-F238E27FC236}">
                <a16:creationId xmlns:a16="http://schemas.microsoft.com/office/drawing/2014/main" id="{1A9157F1-6F57-9A63-75B9-7E7DE470E78A}"/>
              </a:ext>
            </a:extLst>
          </p:cNvPr>
          <p:cNvPicPr>
            <a:picLocks noChangeAspect="1"/>
          </p:cNvPicPr>
          <p:nvPr/>
        </p:nvPicPr>
        <p:blipFill>
          <a:blip r:embed="rId5"/>
          <a:stretch>
            <a:fillRect/>
          </a:stretch>
        </p:blipFill>
        <p:spPr>
          <a:xfrm>
            <a:off x="5165211" y="1446004"/>
            <a:ext cx="1973580" cy="3830084"/>
          </a:xfrm>
          <a:prstGeom prst="rect">
            <a:avLst/>
          </a:prstGeom>
        </p:spPr>
      </p:pic>
      <p:sp>
        <p:nvSpPr>
          <p:cNvPr id="24" name="Phone frame 4">
            <a:extLst>
              <a:ext uri="{FF2B5EF4-FFF2-40B4-BE49-F238E27FC236}">
                <a16:creationId xmlns:a16="http://schemas.microsoft.com/office/drawing/2014/main" id="{CFBE7106-0440-C37F-288D-3A7C05AAE396}"/>
              </a:ext>
            </a:extLst>
          </p:cNvPr>
          <p:cNvSpPr/>
          <p:nvPr/>
        </p:nvSpPr>
        <p:spPr>
          <a:xfrm>
            <a:off x="9898740" y="1336879"/>
            <a:ext cx="1913899" cy="4184242"/>
          </a:xfrm>
          <a:prstGeom prst="roundRect">
            <a:avLst>
              <a:gd name="adj" fmla="val 10256"/>
            </a:avLst>
          </a:prstGeom>
          <a:solidFill>
            <a:srgbClr val="FFFFFF">
              <a:alpha val="90000"/>
            </a:srgbClr>
          </a:solidFill>
          <a:ln w="25400">
            <a:solidFill>
              <a:srgbClr val="201449"/>
            </a:solidFill>
            <a:prstDash val="solid"/>
          </a:ln>
        </p:spPr>
      </p:sp>
      <p:pic>
        <p:nvPicPr>
          <p:cNvPr id="27" name="Picture 26">
            <a:extLst>
              <a:ext uri="{FF2B5EF4-FFF2-40B4-BE49-F238E27FC236}">
                <a16:creationId xmlns:a16="http://schemas.microsoft.com/office/drawing/2014/main" id="{0849061F-0568-DE75-E13D-90A8B0B39426}"/>
              </a:ext>
            </a:extLst>
          </p:cNvPr>
          <p:cNvPicPr>
            <a:picLocks noChangeAspect="1"/>
          </p:cNvPicPr>
          <p:nvPr/>
        </p:nvPicPr>
        <p:blipFill>
          <a:blip r:embed="rId6"/>
          <a:stretch>
            <a:fillRect/>
          </a:stretch>
        </p:blipFill>
        <p:spPr>
          <a:xfrm>
            <a:off x="7506060" y="1446003"/>
            <a:ext cx="1913900" cy="3784063"/>
          </a:xfrm>
          <a:prstGeom prst="rect">
            <a:avLst/>
          </a:prstGeom>
        </p:spPr>
      </p:pic>
      <p:pic>
        <p:nvPicPr>
          <p:cNvPr id="29" name="Picture 28">
            <a:extLst>
              <a:ext uri="{FF2B5EF4-FFF2-40B4-BE49-F238E27FC236}">
                <a16:creationId xmlns:a16="http://schemas.microsoft.com/office/drawing/2014/main" id="{647771A6-E339-8698-679E-F96365EA58E7}"/>
              </a:ext>
            </a:extLst>
          </p:cNvPr>
          <p:cNvPicPr>
            <a:picLocks noChangeAspect="1"/>
          </p:cNvPicPr>
          <p:nvPr/>
        </p:nvPicPr>
        <p:blipFill>
          <a:blip r:embed="rId7"/>
          <a:stretch>
            <a:fillRect/>
          </a:stretch>
        </p:blipFill>
        <p:spPr>
          <a:xfrm>
            <a:off x="9898740" y="1600200"/>
            <a:ext cx="1913899" cy="3675888"/>
          </a:xfrm>
          <a:prstGeom prst="rect">
            <a:avLst/>
          </a:prstGeom>
        </p:spPr>
      </p:pic>
      <p:sp>
        <p:nvSpPr>
          <p:cNvPr id="30" name="TextBox 29">
            <a:extLst>
              <a:ext uri="{FF2B5EF4-FFF2-40B4-BE49-F238E27FC236}">
                <a16:creationId xmlns:a16="http://schemas.microsoft.com/office/drawing/2014/main" id="{C0B565EA-A973-D839-94AE-F0A4FDA40745}"/>
              </a:ext>
            </a:extLst>
          </p:cNvPr>
          <p:cNvSpPr txBox="1"/>
          <p:nvPr/>
        </p:nvSpPr>
        <p:spPr>
          <a:xfrm>
            <a:off x="768096" y="5724144"/>
            <a:ext cx="184731" cy="369332"/>
          </a:xfrm>
          <a:prstGeom prst="rect">
            <a:avLst/>
          </a:prstGeom>
          <a:noFill/>
        </p:spPr>
        <p:txBody>
          <a:bodyPr wrap="square" rtlCol="0">
            <a:spAutoFit/>
          </a:bodyPr>
          <a:lstStyle/>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Comparison with Existing System</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4992624"/>
        </p:xfrm>
        <a:graphic>
          <a:graphicData uri="http://schemas.openxmlformats.org/drawingml/2006/table">
            <a:tbl>
              <a:tblPr/>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13232">
                <a:tc>
                  <a:txBody>
                    <a:bodyPr/>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Feature</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Existing System</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Proposed System</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713232">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Processing</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Manual reporting, or hardware / cloud processing</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Automated on-device detection with user cancel step</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Accuracy</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Depends on witness or victim; hardware systems can be accurate but costly</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Threshold-based; no accuracy figure measured; cancel step handles false alerts</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Time</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Starts only after someone notices and calls</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Detection starts immediately; escalation after 20 s cancel window</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Security</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Cloud systems send data to servers</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Minimal data stored locally; SMS sent as plain text</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3232">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Accessibility</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Needs vehicle hardware, servers or connectivity</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Any Android phone with sensors; no extra hardware</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3232">
                <a:tc>
                  <a:txBody>
                    <a:bodyPr/>
                    <a:lstStyle/>
                    <a:p>
                      <a:pPr marL="0" indent="0">
                        <a:buNone/>
                      </a:pPr>
                      <a:r>
                        <a:rPr lang="en-US" sz="1300" b="1" dirty="0">
                          <a:solidFill>
                            <a:srgbClr val="201449"/>
                          </a:solidFill>
                          <a:latin typeface="Avenir Next LT Pro" pitchFamily="34" charset="0"/>
                          <a:ea typeface="Avenir Next LT Pro" pitchFamily="34" charset="-122"/>
                          <a:cs typeface="Avenir Next LT Pro" pitchFamily="34" charset="-120"/>
                        </a:rPr>
                        <a:t>Reporting</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Verbal description of location</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300" dirty="0">
                          <a:solidFill>
                            <a:srgbClr val="201449"/>
                          </a:solidFill>
                          <a:latin typeface="Avenir Next LT Pro" pitchFamily="34" charset="0"/>
                          <a:ea typeface="Avenir Next LT Pro" pitchFamily="34" charset="-122"/>
                          <a:cs typeface="Avenir Next LT Pro" pitchFamily="34" charset="-120"/>
                        </a:rPr>
                        <a:t>Auto message with name, blood group, Maps link</a:t>
                      </a:r>
                      <a:endParaRPr lang="en-US" sz="13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Testing</a:t>
            </a:r>
            <a:endParaRPr lang="en-US" sz="3200" dirty="0"/>
          </a:p>
        </p:txBody>
      </p:sp>
      <p:sp>
        <p:nvSpPr>
          <p:cNvPr id="5" name="Text 2"/>
          <p:cNvSpPr txBox="1"/>
          <p:nvPr/>
        </p:nvSpPr>
        <p:spPr>
          <a:xfrm>
            <a:off x="640080" y="1737360"/>
            <a:ext cx="5394960" cy="274320"/>
          </a:xfrm>
          <a:prstGeom prst="rect">
            <a:avLst/>
          </a:prstGeom>
          <a:noFill/>
          <a:ln/>
        </p:spPr>
        <p:txBody>
          <a:bodyPr wrap="square" lIns="0" tIns="0" rIns="0" bIns="0" rtlCol="0" anchor="t"/>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Unit: User Details Validation</a:t>
            </a:r>
            <a:endParaRPr lang="en-US" sz="1300" dirty="0"/>
          </a:p>
        </p:txBody>
      </p:sp>
      <p:graphicFrame>
        <p:nvGraphicFramePr>
          <p:cNvPr id="21" name="Table"/>
          <p:cNvGraphicFramePr>
            <a:graphicFrameLocks noGrp="1"/>
          </p:cNvGraphicFramePr>
          <p:nvPr>
            <p:extLst>
              <p:ext uri="{D42A27DB-BD31-4B8C-83A1-F6EECF244321}">
                <p14:modId xmlns:p14="http://schemas.microsoft.com/office/powerpoint/2010/main" val="2299949887"/>
              </p:ext>
            </p:extLst>
          </p:nvPr>
        </p:nvGraphicFramePr>
        <p:xfrm>
          <a:off x="640080" y="2057400"/>
          <a:ext cx="5394960" cy="1563624"/>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90906">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Test Case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Expected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Actual</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Status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390906">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Enter details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Values saved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Saved, visible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1"/>
                  </a:ext>
                </a:extLst>
              </a:tr>
              <a:tr h="390906">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Save all fields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Data persists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Persisted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2"/>
                  </a:ext>
                </a:extLst>
              </a:tr>
              <a:tr h="390906">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Empty field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Fill-all message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Message shown</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3"/>
                  </a:ext>
                </a:extLst>
              </a:tr>
            </a:tbl>
          </a:graphicData>
        </a:graphic>
      </p:graphicFrame>
      <p:sp>
        <p:nvSpPr>
          <p:cNvPr id="7" name="Text 3"/>
          <p:cNvSpPr txBox="1"/>
          <p:nvPr/>
        </p:nvSpPr>
        <p:spPr>
          <a:xfrm>
            <a:off x="640080" y="3840480"/>
            <a:ext cx="5394960" cy="274320"/>
          </a:xfrm>
          <a:prstGeom prst="rect">
            <a:avLst/>
          </a:prstGeom>
          <a:noFill/>
          <a:ln/>
        </p:spPr>
        <p:txBody>
          <a:bodyPr wrap="square" lIns="0" tIns="0" rIns="0" bIns="0" rtlCol="0" anchor="t"/>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Unit: Motion Detection Thresholds</a:t>
            </a:r>
            <a:endParaRPr lang="en-US" sz="1300" dirty="0"/>
          </a:p>
        </p:txBody>
      </p:sp>
      <p:graphicFrame>
        <p:nvGraphicFramePr>
          <p:cNvPr id="41" name="Table"/>
          <p:cNvGraphicFramePr>
            <a:graphicFrameLocks noGrp="1"/>
          </p:cNvGraphicFramePr>
          <p:nvPr>
            <p:extLst>
              <p:ext uri="{D42A27DB-BD31-4B8C-83A1-F6EECF244321}">
                <p14:modId xmlns:p14="http://schemas.microsoft.com/office/powerpoint/2010/main" val="3380961708"/>
              </p:ext>
            </p:extLst>
          </p:nvPr>
        </p:nvGraphicFramePr>
        <p:xfrm>
          <a:off x="640080" y="4160520"/>
          <a:ext cx="5394960" cy="1837944"/>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459486">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Test Case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Expected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Actual</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Status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459486">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Normal movement</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No alert</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No alert</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1"/>
                  </a:ext>
                </a:extLst>
              </a:tr>
              <a:tr h="459486">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Strong shake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Alarm, warning</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Alarm started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2"/>
                  </a:ext>
                </a:extLst>
              </a:tr>
              <a:tr h="459486">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Repeated shakes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One alert</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Single event</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3"/>
                  </a:ext>
                </a:extLst>
              </a:tr>
            </a:tbl>
          </a:graphicData>
        </a:graphic>
      </p:graphicFrame>
      <p:sp>
        <p:nvSpPr>
          <p:cNvPr id="9" name="Text 4"/>
          <p:cNvSpPr txBox="1"/>
          <p:nvPr/>
        </p:nvSpPr>
        <p:spPr>
          <a:xfrm>
            <a:off x="6888480" y="2839212"/>
            <a:ext cx="5303520" cy="274320"/>
          </a:xfrm>
          <a:prstGeom prst="rect">
            <a:avLst/>
          </a:prstGeom>
          <a:noFill/>
          <a:ln/>
        </p:spPr>
        <p:txBody>
          <a:bodyPr wrap="square" lIns="0" tIns="0" rIns="0" bIns="0" rtlCol="0" anchor="t"/>
          <a:lstStyle/>
          <a:p>
            <a:pPr marL="0" indent="0">
              <a:buNone/>
            </a:pPr>
            <a:r>
              <a:rPr lang="en-US" sz="1300" b="1" dirty="0">
                <a:solidFill>
                  <a:srgbClr val="FFFFFF"/>
                </a:solidFill>
                <a:latin typeface="Avenir Next LT Pro" pitchFamily="34" charset="0"/>
                <a:ea typeface="Avenir Next LT Pro" pitchFamily="34" charset="-122"/>
                <a:cs typeface="Avenir Next LT Pro" pitchFamily="34" charset="-120"/>
              </a:rPr>
              <a:t>Integration: SMS and Location, SMS Fallback</a:t>
            </a:r>
            <a:endParaRPr lang="en-US" sz="1300" dirty="0"/>
          </a:p>
        </p:txBody>
      </p:sp>
      <p:graphicFrame>
        <p:nvGraphicFramePr>
          <p:cNvPr id="61" name="Table"/>
          <p:cNvGraphicFramePr>
            <a:graphicFrameLocks noGrp="1"/>
          </p:cNvGraphicFramePr>
          <p:nvPr>
            <p:extLst>
              <p:ext uri="{D42A27DB-BD31-4B8C-83A1-F6EECF244321}">
                <p14:modId xmlns:p14="http://schemas.microsoft.com/office/powerpoint/2010/main" val="329532018"/>
              </p:ext>
            </p:extLst>
          </p:nvPr>
        </p:nvGraphicFramePr>
        <p:xfrm>
          <a:off x="6217920" y="3145536"/>
          <a:ext cx="5303520" cy="1837945"/>
        </p:xfrm>
        <a:graphic>
          <a:graphicData uri="http://schemas.openxmlformats.org/drawingml/2006/table">
            <a:tbl>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67589">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Test Case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Expected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Actual</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tc>
                  <a:txBody>
                    <a:bodyPr/>
                    <a:lstStyle/>
                    <a:p>
                      <a:pPr marL="0" indent="0">
                        <a:buNone/>
                      </a:pPr>
                      <a:r>
                        <a:rPr lang="en-US" sz="1000" b="1" dirty="0">
                          <a:solidFill>
                            <a:srgbClr val="FFFFFF"/>
                          </a:solidFill>
                          <a:latin typeface="Avenir Next LT Pro" pitchFamily="34" charset="0"/>
                          <a:ea typeface="Avenir Next LT Pro" pitchFamily="34" charset="-122"/>
                          <a:cs typeface="Avenir Next LT Pro" pitchFamily="34" charset="-120"/>
                        </a:rPr>
                        <a:t>Status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201449"/>
                    </a:solidFill>
                  </a:tcPr>
                </a:tc>
                <a:extLst>
                  <a:ext uri="{0D108BD9-81ED-4DB2-BD59-A6C34878D82A}">
                    <a16:rowId xmlns:a16="http://schemas.microsoft.com/office/drawing/2014/main" val="10000"/>
                  </a:ext>
                </a:extLst>
              </a:tr>
              <a:tr h="367589">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Timeout, no cancel</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Message begins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Initiated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1"/>
                  </a:ext>
                </a:extLst>
              </a:tr>
              <a:tr h="367589">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Cancel</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No message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No message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2"/>
                  </a:ext>
                </a:extLst>
              </a:tr>
              <a:tr h="367589">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Permission denied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Permission flow</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Flow shown</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3"/>
                  </a:ext>
                </a:extLst>
              </a:tr>
              <a:tr h="367589">
                <a:tc>
                  <a:txBody>
                    <a:bodyPr/>
                    <a:lstStyle/>
                    <a:p>
                      <a:pPr marL="0" indent="0">
                        <a:buNone/>
                      </a:pPr>
                      <a:r>
                        <a:rPr lang="en-US" sz="1000" b="1" dirty="0">
                          <a:solidFill>
                            <a:srgbClr val="201449"/>
                          </a:solidFill>
                          <a:latin typeface="Avenir Next LT Pro" pitchFamily="34" charset="0"/>
                          <a:ea typeface="Avenir Next LT Pro" pitchFamily="34" charset="-122"/>
                          <a:cs typeface="Avenir Next LT Pro" pitchFamily="34" charset="-120"/>
                        </a:rPr>
                        <a:t>SMS unavailable</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Kept as unsent</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buNone/>
                      </a:pPr>
                      <a:r>
                        <a:rPr lang="en-US" sz="1000" dirty="0">
                          <a:solidFill>
                            <a:srgbClr val="201449"/>
                          </a:solidFill>
                          <a:latin typeface="Avenir Next LT Pro" pitchFamily="34" charset="0"/>
                          <a:ea typeface="Avenir Next LT Pro" pitchFamily="34" charset="-122"/>
                          <a:cs typeface="Avenir Next LT Pro" pitchFamily="34" charset="-120"/>
                        </a:rPr>
                        <a:t>Unsent saved</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0B7A61"/>
                          </a:solidFill>
                          <a:latin typeface="Avenir Next LT Pro" pitchFamily="34" charset="0"/>
                          <a:ea typeface="Avenir Next LT Pro" pitchFamily="34" charset="-122"/>
                          <a:cs typeface="Avenir Next LT Pro" pitchFamily="34" charset="-120"/>
                        </a:rPr>
                        <a:t>Pass</a:t>
                      </a:r>
                      <a:endParaRPr lang="en-US" sz="1000" dirty="0">
                        <a:latin typeface="Avenir Next LT Pro" charset="0"/>
                        <a:ea typeface="Avenir Next LT Pro" charset="0"/>
                        <a:cs typeface="Avenir Next LT Pro" charset="0"/>
                      </a:endParaRPr>
                    </a:p>
                  </a:txBody>
                  <a:tcPr anchor="ctr">
                    <a:lnL w="9525" cap="flat" cmpd="sng" algn="ctr">
                      <a:solidFill>
                        <a:srgbClr val="D6D2F0"/>
                      </a:solidFill>
                      <a:prstDash val="solid"/>
                      <a:round/>
                      <a:headEnd type="none" w="med" len="med"/>
                      <a:tailEnd type="none" w="med" len="med"/>
                    </a:lnL>
                    <a:lnR w="9525" cap="flat" cmpd="sng" algn="ctr">
                      <a:solidFill>
                        <a:srgbClr val="D6D2F0"/>
                      </a:solidFill>
                      <a:prstDash val="solid"/>
                      <a:round/>
                      <a:headEnd type="none" w="med" len="med"/>
                      <a:tailEnd type="none" w="med" len="med"/>
                    </a:lnR>
                    <a:lnT w="9525" cap="flat" cmpd="sng" algn="ctr">
                      <a:solidFill>
                        <a:srgbClr val="D6D2F0"/>
                      </a:solidFill>
                      <a:prstDash val="solid"/>
                      <a:round/>
                      <a:headEnd type="none" w="med" len="med"/>
                      <a:tailEnd type="none" w="med" len="med"/>
                    </a:lnT>
                    <a:lnB w="9525" cap="flat" cmpd="sng" algn="ctr">
                      <a:solidFill>
                        <a:srgbClr val="D6D2F0"/>
                      </a:solidFill>
                      <a:prstDash val="solid"/>
                      <a:round/>
                      <a:headEnd type="none" w="med" len="med"/>
                      <a:tailEnd type="none" w="med" len="med"/>
                    </a:lnB>
                    <a:solidFill>
                      <a:srgbClr val="E3F7F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310896"/>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Demo Video</a:t>
            </a:r>
            <a:endParaRPr lang="en-US" sz="3200" dirty="0"/>
          </a:p>
        </p:txBody>
      </p:sp>
      <p:sp>
        <p:nvSpPr>
          <p:cNvPr id="4" name="Video frame"/>
          <p:cNvSpPr/>
          <p:nvPr/>
        </p:nvSpPr>
        <p:spPr>
          <a:xfrm>
            <a:off x="640080" y="1005840"/>
            <a:ext cx="10881360" cy="3931920"/>
          </a:xfrm>
          <a:prstGeom prst="roundRect">
            <a:avLst>
              <a:gd name="adj" fmla="val 3077"/>
            </a:avLst>
          </a:prstGeom>
          <a:solidFill>
            <a:srgbClr val="FFFFFF">
              <a:alpha val="92000"/>
            </a:srgbClr>
          </a:solidFill>
          <a:ln w="9525">
            <a:solidFill>
              <a:srgbClr val="FFFFFF">
                <a:alpha val="40000"/>
              </a:srgbClr>
            </a:solidFill>
            <a:prstDash val="solid"/>
          </a:ln>
        </p:spPr>
      </p:sp>
      <p:sp>
        <p:nvSpPr>
          <p:cNvPr id="6" name="Step 1"/>
          <p:cNvSpPr/>
          <p:nvPr/>
        </p:nvSpPr>
        <p:spPr>
          <a:xfrm>
            <a:off x="640080" y="52578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7" name="Text 4"/>
          <p:cNvSpPr txBox="1"/>
          <p:nvPr/>
        </p:nvSpPr>
        <p:spPr>
          <a:xfrm>
            <a:off x="713232" y="52578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Save Emergency details</a:t>
            </a:r>
            <a:endParaRPr lang="en-US" sz="1100" dirty="0"/>
          </a:p>
        </p:txBody>
      </p:sp>
      <p:sp>
        <p:nvSpPr>
          <p:cNvPr id="8" name="Text 5"/>
          <p:cNvSpPr txBox="1"/>
          <p:nvPr/>
        </p:nvSpPr>
        <p:spPr>
          <a:xfrm>
            <a:off x="2225040" y="52578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9" name="Step 2"/>
          <p:cNvSpPr/>
          <p:nvPr/>
        </p:nvSpPr>
        <p:spPr>
          <a:xfrm>
            <a:off x="2499360" y="52578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0" name="Text 7"/>
          <p:cNvSpPr txBox="1"/>
          <p:nvPr/>
        </p:nvSpPr>
        <p:spPr>
          <a:xfrm>
            <a:off x="2572512" y="52578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Detection ON</a:t>
            </a:r>
            <a:endParaRPr lang="en-US" sz="1100" dirty="0"/>
          </a:p>
        </p:txBody>
      </p:sp>
      <p:sp>
        <p:nvSpPr>
          <p:cNvPr id="11" name="Text 8"/>
          <p:cNvSpPr txBox="1"/>
          <p:nvPr/>
        </p:nvSpPr>
        <p:spPr>
          <a:xfrm>
            <a:off x="4084320" y="52578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2" name="Step 3"/>
          <p:cNvSpPr/>
          <p:nvPr/>
        </p:nvSpPr>
        <p:spPr>
          <a:xfrm>
            <a:off x="4358640" y="52578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3" name="Text 10"/>
          <p:cNvSpPr txBox="1"/>
          <p:nvPr/>
        </p:nvSpPr>
        <p:spPr>
          <a:xfrm>
            <a:off x="4431792" y="52578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Normal: no alert</a:t>
            </a:r>
            <a:endParaRPr lang="en-US" sz="1100" dirty="0"/>
          </a:p>
        </p:txBody>
      </p:sp>
      <p:sp>
        <p:nvSpPr>
          <p:cNvPr id="14" name="Text 11"/>
          <p:cNvSpPr txBox="1"/>
          <p:nvPr/>
        </p:nvSpPr>
        <p:spPr>
          <a:xfrm>
            <a:off x="5943600" y="52578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5" name="Step 4"/>
          <p:cNvSpPr/>
          <p:nvPr/>
        </p:nvSpPr>
        <p:spPr>
          <a:xfrm>
            <a:off x="6217920" y="52578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6" name="Text 13"/>
          <p:cNvSpPr txBox="1"/>
          <p:nvPr/>
        </p:nvSpPr>
        <p:spPr>
          <a:xfrm>
            <a:off x="6291072" y="52578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Shake: alarm</a:t>
            </a:r>
            <a:endParaRPr lang="en-US" sz="1100" dirty="0"/>
          </a:p>
        </p:txBody>
      </p:sp>
      <p:sp>
        <p:nvSpPr>
          <p:cNvPr id="17" name="Text 14"/>
          <p:cNvSpPr txBox="1"/>
          <p:nvPr/>
        </p:nvSpPr>
        <p:spPr>
          <a:xfrm>
            <a:off x="7802880" y="52578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8" name="Step 5"/>
          <p:cNvSpPr/>
          <p:nvPr/>
        </p:nvSpPr>
        <p:spPr>
          <a:xfrm>
            <a:off x="8077200" y="5257800"/>
            <a:ext cx="1584960" cy="868680"/>
          </a:xfrm>
          <a:prstGeom prst="roundRect">
            <a:avLst>
              <a:gd name="adj" fmla="val 12632"/>
            </a:avLst>
          </a:prstGeom>
          <a:solidFill>
            <a:srgbClr val="201449">
              <a:alpha val="45000"/>
            </a:srgbClr>
          </a:solidFill>
          <a:ln w="9525">
            <a:solidFill>
              <a:srgbClr val="FFFFFF">
                <a:alpha val="40000"/>
              </a:srgbClr>
            </a:solidFill>
            <a:prstDash val="solid"/>
          </a:ln>
        </p:spPr>
      </p:sp>
      <p:sp>
        <p:nvSpPr>
          <p:cNvPr id="19" name="Text 16"/>
          <p:cNvSpPr txBox="1"/>
          <p:nvPr/>
        </p:nvSpPr>
        <p:spPr>
          <a:xfrm>
            <a:off x="8150352" y="5257800"/>
            <a:ext cx="1438656"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Avenir Next LT Pro" pitchFamily="34" charset="0"/>
                <a:ea typeface="Avenir Next LT Pro" pitchFamily="34" charset="-122"/>
                <a:cs typeface="Avenir Next LT Pro" pitchFamily="34" charset="-120"/>
              </a:rPr>
              <a:t>Cancel: no SMS</a:t>
            </a:r>
            <a:endParaRPr lang="en-US" sz="1100" dirty="0"/>
          </a:p>
        </p:txBody>
      </p:sp>
      <p:sp>
        <p:nvSpPr>
          <p:cNvPr id="20" name="Text 17"/>
          <p:cNvSpPr txBox="1"/>
          <p:nvPr/>
        </p:nvSpPr>
        <p:spPr>
          <a:xfrm>
            <a:off x="9662160" y="5257800"/>
            <a:ext cx="27432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21" name="Step 6"/>
          <p:cNvSpPr/>
          <p:nvPr/>
        </p:nvSpPr>
        <p:spPr>
          <a:xfrm>
            <a:off x="9936480" y="5257800"/>
            <a:ext cx="1584960" cy="868680"/>
          </a:xfrm>
          <a:prstGeom prst="roundRect">
            <a:avLst>
              <a:gd name="adj" fmla="val 12632"/>
            </a:avLst>
          </a:prstGeom>
          <a:solidFill>
            <a:srgbClr val="FFFFFF">
              <a:alpha val="92000"/>
            </a:srgbClr>
          </a:solidFill>
          <a:ln w="9525">
            <a:solidFill>
              <a:srgbClr val="FFFFFF">
                <a:alpha val="40000"/>
              </a:srgbClr>
            </a:solidFill>
            <a:prstDash val="solid"/>
          </a:ln>
        </p:spPr>
      </p:sp>
      <p:sp>
        <p:nvSpPr>
          <p:cNvPr id="22" name="Text 19"/>
          <p:cNvSpPr txBox="1"/>
          <p:nvPr/>
        </p:nvSpPr>
        <p:spPr>
          <a:xfrm>
            <a:off x="10009632" y="5257800"/>
            <a:ext cx="1438656" cy="868680"/>
          </a:xfrm>
          <a:prstGeom prst="rect">
            <a:avLst/>
          </a:prstGeom>
          <a:noFill/>
          <a:ln/>
        </p:spPr>
        <p:txBody>
          <a:bodyPr wrap="square" lIns="0" tIns="0" rIns="0" bIns="0" rtlCol="0" anchor="ctr"/>
          <a:lstStyle/>
          <a:p>
            <a:pPr marL="0" indent="0" algn="ctr">
              <a:buNone/>
            </a:pPr>
            <a:r>
              <a:rPr lang="en-US" sz="1100" b="1" dirty="0">
                <a:solidFill>
                  <a:srgbClr val="201449"/>
                </a:solidFill>
                <a:latin typeface="Avenir Next LT Pro" pitchFamily="34" charset="0"/>
                <a:ea typeface="Avenir Next LT Pro" pitchFamily="34" charset="-122"/>
                <a:cs typeface="Avenir Next LT Pro" pitchFamily="34" charset="-120"/>
              </a:rPr>
              <a:t>Timeout: SMS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25</a:t>
            </a:fld>
            <a:endParaRPr lang="en-US"/>
          </a:p>
        </p:txBody>
      </p:sp>
      <p:pic>
        <p:nvPicPr>
          <p:cNvPr id="26" name="WhatsApp Video 2026-10-03 at 10.37.22 PM">
            <a:hlinkClick r:id="" action="ppaction://media"/>
            <a:extLst>
              <a:ext uri="{FF2B5EF4-FFF2-40B4-BE49-F238E27FC236}">
                <a16:creationId xmlns:a16="http://schemas.microsoft.com/office/drawing/2014/main" id="{D30F3118-90CA-05A9-C274-3CB83DB83A6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30936" y="731520"/>
            <a:ext cx="10881360" cy="39776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Advantages</a:t>
            </a:r>
            <a:endParaRPr lang="en-US" sz="3200" dirty="0"/>
          </a:p>
        </p:txBody>
      </p:sp>
      <p:sp>
        <p:nvSpPr>
          <p:cNvPr id="4" name="Cost and simplicity"/>
          <p:cNvSpPr/>
          <p:nvPr/>
        </p:nvSpPr>
        <p:spPr>
          <a:xfrm>
            <a:off x="640080" y="1371600"/>
            <a:ext cx="5326380" cy="4754880"/>
          </a:xfrm>
          <a:prstGeom prst="roundRect">
            <a:avLst>
              <a:gd name="adj" fmla="val 2308"/>
            </a:avLst>
          </a:prstGeom>
          <a:solidFill>
            <a:srgbClr val="201449">
              <a:alpha val="45000"/>
            </a:srgbClr>
          </a:solidFill>
          <a:ln w="9525">
            <a:solidFill>
              <a:srgbClr val="FFFFFF">
                <a:alpha val="40000"/>
              </a:srgbClr>
            </a:solidFill>
            <a:prstDash val="solid"/>
          </a:ln>
        </p:spPr>
      </p:sp>
      <p:sp>
        <p:nvSpPr>
          <p:cNvPr id="5" name="Text 2"/>
          <p:cNvSpPr txBox="1"/>
          <p:nvPr/>
        </p:nvSpPr>
        <p:spPr>
          <a:xfrm>
            <a:off x="868680" y="1554480"/>
            <a:ext cx="486918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Cost and simplicity</a:t>
            </a:r>
            <a:endParaRPr lang="en-US" sz="1700" dirty="0"/>
          </a:p>
        </p:txBody>
      </p:sp>
      <p:sp>
        <p:nvSpPr>
          <p:cNvPr id="6" name="Text 3"/>
          <p:cNvSpPr txBox="1"/>
          <p:nvPr/>
        </p:nvSpPr>
        <p:spPr>
          <a:xfrm>
            <a:off x="868680" y="2103120"/>
            <a:ext cx="4869180" cy="3840480"/>
          </a:xfrm>
          <a:prstGeom prst="rect">
            <a:avLst/>
          </a:prstGeom>
          <a:noFill/>
          <a:ln/>
        </p:spPr>
        <p:txBody>
          <a:bodyPr wrap="square" lIns="0" tIns="0" rIns="0" bIns="0" rtlCol="0" anchor="t"/>
          <a:lstStyle/>
          <a:p>
            <a:pPr marL="177800" indent="-177800">
              <a:spcAft>
                <a:spcPts val="500"/>
              </a:spcAft>
              <a:buSzPct val="100000"/>
              <a:buChar char="•"/>
            </a:pPr>
            <a:r>
              <a:rPr lang="en-US" sz="1700" dirty="0">
                <a:solidFill>
                  <a:srgbClr val="FFFFFF"/>
                </a:solidFill>
                <a:latin typeface="Avenir Next LT Pro" pitchFamily="34" charset="0"/>
                <a:ea typeface="Avenir Next LT Pro" pitchFamily="34" charset="-122"/>
                <a:cs typeface="Avenir Next LT Pro" pitchFamily="34" charset="-120"/>
              </a:rPr>
              <a:t>Low cost: existing phone sensors</a:t>
            </a:r>
            <a:endParaRPr lang="en-US" sz="1400" dirty="0"/>
          </a:p>
          <a:p>
            <a:pPr marL="177800" indent="-177800">
              <a:spcAft>
                <a:spcPts val="500"/>
              </a:spcAft>
              <a:buSzPct val="100000"/>
              <a:buChar char="•"/>
            </a:pPr>
            <a:r>
              <a:rPr lang="en-US" sz="1700" dirty="0">
                <a:solidFill>
                  <a:srgbClr val="FFFFFF"/>
                </a:solidFill>
                <a:latin typeface="Avenir Next LT Pro" pitchFamily="34" charset="0"/>
                <a:ea typeface="Avenir Next LT Pro" pitchFamily="34" charset="-122"/>
                <a:cs typeface="Avenir Next LT Pro" pitchFamily="34" charset="-120"/>
              </a:rPr>
              <a:t>Simple UI, minimal setup</a:t>
            </a:r>
            <a:endParaRPr lang="en-US" sz="1400" dirty="0"/>
          </a:p>
          <a:p>
            <a:pPr marL="177800" indent="-177800">
              <a:spcAft>
                <a:spcPts val="500"/>
              </a:spcAft>
              <a:buSzPct val="100000"/>
              <a:buChar char="•"/>
            </a:pPr>
            <a:r>
              <a:rPr lang="en-US" sz="1700" dirty="0">
                <a:solidFill>
                  <a:srgbClr val="FFFFFF"/>
                </a:solidFill>
                <a:latin typeface="Avenir Next LT Pro" pitchFamily="34" charset="0"/>
                <a:ea typeface="Avenir Next LT Pro" pitchFamily="34" charset="-122"/>
                <a:cs typeface="Avenir Next LT Pro" pitchFamily="34" charset="-120"/>
              </a:rPr>
              <a:t>Local storage, no server</a:t>
            </a:r>
            <a:endParaRPr lang="en-US" sz="1400" dirty="0"/>
          </a:p>
          <a:p>
            <a:pPr marL="177800" indent="-177800">
              <a:spcAft>
                <a:spcPts val="500"/>
              </a:spcAft>
              <a:buSzPct val="100000"/>
              <a:buChar char="•"/>
            </a:pPr>
            <a:r>
              <a:rPr lang="en-US" sz="1700" dirty="0">
                <a:solidFill>
                  <a:srgbClr val="FFFFFF"/>
                </a:solidFill>
                <a:latin typeface="Avenir Next LT Pro" pitchFamily="34" charset="0"/>
                <a:ea typeface="Avenir Next LT Pro" pitchFamily="34" charset="-122"/>
                <a:cs typeface="Avenir Next LT Pro" pitchFamily="34" charset="-120"/>
              </a:rPr>
              <a:t>Modular Flutter design</a:t>
            </a:r>
            <a:endParaRPr lang="en-US" sz="1400" dirty="0"/>
          </a:p>
        </p:txBody>
      </p:sp>
      <p:sp>
        <p:nvSpPr>
          <p:cNvPr id="7" name="Safety and usefulness"/>
          <p:cNvSpPr/>
          <p:nvPr/>
        </p:nvSpPr>
        <p:spPr>
          <a:xfrm>
            <a:off x="6195060" y="1371600"/>
            <a:ext cx="5326380" cy="4754880"/>
          </a:xfrm>
          <a:prstGeom prst="roundRect">
            <a:avLst>
              <a:gd name="adj" fmla="val 2308"/>
            </a:avLst>
          </a:prstGeom>
          <a:solidFill>
            <a:srgbClr val="FFFFFF">
              <a:alpha val="92000"/>
            </a:srgbClr>
          </a:solidFill>
          <a:ln w="9525">
            <a:solidFill>
              <a:srgbClr val="FFFFFF">
                <a:alpha val="40000"/>
              </a:srgbClr>
            </a:solidFill>
            <a:prstDash val="solid"/>
          </a:ln>
        </p:spPr>
      </p:sp>
      <p:sp>
        <p:nvSpPr>
          <p:cNvPr id="8" name="Text 5"/>
          <p:cNvSpPr txBox="1"/>
          <p:nvPr/>
        </p:nvSpPr>
        <p:spPr>
          <a:xfrm>
            <a:off x="6423660" y="1554480"/>
            <a:ext cx="4869180" cy="411480"/>
          </a:xfrm>
          <a:prstGeom prst="rect">
            <a:avLst/>
          </a:prstGeom>
          <a:noFill/>
          <a:ln/>
        </p:spPr>
        <p:txBody>
          <a:bodyPr wrap="square" lIns="0" tIns="0" rIns="0" bIns="0" rtlCol="0" anchor="t"/>
          <a:lstStyle/>
          <a:p>
            <a:pPr marL="0" indent="0">
              <a:buNone/>
            </a:pPr>
            <a:r>
              <a:rPr lang="en-US" sz="1700" b="1" dirty="0">
                <a:solidFill>
                  <a:srgbClr val="201449"/>
                </a:solidFill>
                <a:latin typeface="Avenir Next LT Pro" pitchFamily="34" charset="0"/>
                <a:ea typeface="Avenir Next LT Pro" pitchFamily="34" charset="-122"/>
                <a:cs typeface="Avenir Next LT Pro" pitchFamily="34" charset="-120"/>
              </a:rPr>
              <a:t>Safety and usefulness</a:t>
            </a:r>
            <a:endParaRPr lang="en-US" sz="1700" dirty="0"/>
          </a:p>
        </p:txBody>
      </p:sp>
      <p:sp>
        <p:nvSpPr>
          <p:cNvPr id="9" name="Text 6"/>
          <p:cNvSpPr txBox="1"/>
          <p:nvPr/>
        </p:nvSpPr>
        <p:spPr>
          <a:xfrm>
            <a:off x="6423660" y="2103120"/>
            <a:ext cx="4869180" cy="3840480"/>
          </a:xfrm>
          <a:prstGeom prst="rect">
            <a:avLst/>
          </a:prstGeom>
          <a:noFill/>
          <a:ln/>
        </p:spPr>
        <p:txBody>
          <a:bodyPr wrap="square" lIns="0" tIns="0" rIns="0" bIns="0" rtlCol="0" anchor="t"/>
          <a:lstStyle/>
          <a:p>
            <a:pPr marL="177800" indent="-177800">
              <a:spcAft>
                <a:spcPts val="500"/>
              </a:spcAft>
              <a:buSzPct val="100000"/>
              <a:buChar char="•"/>
            </a:pPr>
            <a:r>
              <a:rPr lang="en-US" sz="1700" dirty="0">
                <a:solidFill>
                  <a:srgbClr val="201449"/>
                </a:solidFill>
                <a:latin typeface="Avenir Next LT Pro" pitchFamily="34" charset="0"/>
                <a:ea typeface="Avenir Next LT Pro" pitchFamily="34" charset="-122"/>
                <a:cs typeface="Avenir Next LT Pro" pitchFamily="34" charset="-120"/>
              </a:rPr>
              <a:t>Fast, location-aware message</a:t>
            </a:r>
            <a:endParaRPr lang="en-US" sz="1400" dirty="0"/>
          </a:p>
          <a:p>
            <a:pPr marL="177800" indent="-177800">
              <a:spcAft>
                <a:spcPts val="500"/>
              </a:spcAft>
              <a:buSzPct val="100000"/>
              <a:buChar char="•"/>
            </a:pPr>
            <a:r>
              <a:rPr lang="en-US" sz="1700" dirty="0">
                <a:solidFill>
                  <a:srgbClr val="201449"/>
                </a:solidFill>
                <a:latin typeface="Avenir Next LT Pro" pitchFamily="34" charset="0"/>
                <a:ea typeface="Avenir Next LT Pro" pitchFamily="34" charset="-122"/>
                <a:cs typeface="Avenir Next LT Pro" pitchFamily="34" charset="-120"/>
              </a:rPr>
              <a:t>Maps link opens directly</a:t>
            </a:r>
            <a:endParaRPr lang="en-US" sz="1400" dirty="0"/>
          </a:p>
          <a:p>
            <a:pPr marL="177800" indent="-177800">
              <a:spcAft>
                <a:spcPts val="500"/>
              </a:spcAft>
              <a:buSzPct val="100000"/>
              <a:buChar char="•"/>
            </a:pPr>
            <a:r>
              <a:rPr lang="en-US" sz="1700" dirty="0">
                <a:solidFill>
                  <a:srgbClr val="201449"/>
                </a:solidFill>
                <a:latin typeface="Avenir Next LT Pro" pitchFamily="34" charset="0"/>
                <a:ea typeface="Avenir Next LT Pro" pitchFamily="34" charset="-122"/>
                <a:cs typeface="Avenir Next LT Pro" pitchFamily="34" charset="-120"/>
              </a:rPr>
              <a:t>False alerts can be cancelled</a:t>
            </a:r>
            <a:endParaRPr lang="en-US" sz="1400" dirty="0"/>
          </a:p>
          <a:p>
            <a:pPr marL="177800" indent="-177800">
              <a:spcAft>
                <a:spcPts val="500"/>
              </a:spcAft>
              <a:buSzPct val="100000"/>
              <a:buChar char="•"/>
            </a:pPr>
            <a:r>
              <a:rPr lang="en-US" sz="1700" dirty="0">
                <a:solidFill>
                  <a:srgbClr val="201449"/>
                </a:solidFill>
                <a:latin typeface="Avenir Next LT Pro" pitchFamily="34" charset="0"/>
                <a:ea typeface="Avenir Next LT Pro" pitchFamily="34" charset="-122"/>
                <a:cs typeface="Avenir Next LT Pro" pitchFamily="34" charset="-120"/>
              </a:rPr>
              <a:t>Useful for riders and travellers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Limitations</a:t>
            </a:r>
            <a:endParaRPr lang="en-US" sz="3200" dirty="0"/>
          </a:p>
        </p:txBody>
      </p:sp>
      <p:sp>
        <p:nvSpPr>
          <p:cNvPr id="4" name="Detection"/>
          <p:cNvSpPr/>
          <p:nvPr/>
        </p:nvSpPr>
        <p:spPr>
          <a:xfrm>
            <a:off x="640080" y="1371600"/>
            <a:ext cx="3474720" cy="3291840"/>
          </a:xfrm>
          <a:prstGeom prst="roundRect">
            <a:avLst>
              <a:gd name="adj" fmla="val 3333"/>
            </a:avLst>
          </a:prstGeom>
          <a:solidFill>
            <a:srgbClr val="201449">
              <a:alpha val="45000"/>
            </a:srgbClr>
          </a:solidFill>
          <a:ln w="9525">
            <a:solidFill>
              <a:srgbClr val="FFFFFF">
                <a:alpha val="40000"/>
              </a:srgbClr>
            </a:solidFill>
            <a:prstDash val="solid"/>
          </a:ln>
        </p:spPr>
      </p:sp>
      <p:sp>
        <p:nvSpPr>
          <p:cNvPr id="6" name="Text 3"/>
          <p:cNvSpPr txBox="1"/>
          <p:nvPr/>
        </p:nvSpPr>
        <p:spPr>
          <a:xfrm>
            <a:off x="868680" y="2103120"/>
            <a:ext cx="301752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False positives from drops and potholes</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Depends on placement and calibration</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No certified accuracy</a:t>
            </a:r>
            <a:endParaRPr lang="en-US" sz="1400" dirty="0"/>
          </a:p>
        </p:txBody>
      </p:sp>
      <p:sp>
        <p:nvSpPr>
          <p:cNvPr id="7" name="Platform"/>
          <p:cNvSpPr/>
          <p:nvPr/>
        </p:nvSpPr>
        <p:spPr>
          <a:xfrm>
            <a:off x="4343400" y="1371600"/>
            <a:ext cx="3474720" cy="3291840"/>
          </a:xfrm>
          <a:prstGeom prst="roundRect">
            <a:avLst>
              <a:gd name="adj" fmla="val 3333"/>
            </a:avLst>
          </a:prstGeom>
          <a:solidFill>
            <a:srgbClr val="201449">
              <a:alpha val="45000"/>
            </a:srgbClr>
          </a:solidFill>
          <a:ln w="9525">
            <a:solidFill>
              <a:srgbClr val="FFFFFF">
                <a:alpha val="40000"/>
              </a:srgbClr>
            </a:solidFill>
            <a:prstDash val="solid"/>
          </a:ln>
        </p:spPr>
      </p:sp>
      <p:sp>
        <p:nvSpPr>
          <p:cNvPr id="9" name="Text 6"/>
          <p:cNvSpPr txBox="1"/>
          <p:nvPr/>
        </p:nvSpPr>
        <p:spPr>
          <a:xfrm>
            <a:off x="4572000" y="2103120"/>
            <a:ext cx="301752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SMS needs cellular service and permissions</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GPS weak indoors or in tunnels</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Battery use and Android background limits</a:t>
            </a:r>
            <a:endParaRPr lang="en-US" sz="1400" dirty="0"/>
          </a:p>
        </p:txBody>
      </p:sp>
      <p:sp>
        <p:nvSpPr>
          <p:cNvPr id="10" name="Integration"/>
          <p:cNvSpPr/>
          <p:nvPr/>
        </p:nvSpPr>
        <p:spPr>
          <a:xfrm>
            <a:off x="8046720" y="1371600"/>
            <a:ext cx="3474720" cy="3291840"/>
          </a:xfrm>
          <a:prstGeom prst="roundRect">
            <a:avLst>
              <a:gd name="adj" fmla="val 3333"/>
            </a:avLst>
          </a:prstGeom>
          <a:solidFill>
            <a:srgbClr val="FFFFFF">
              <a:alpha val="92000"/>
            </a:srgbClr>
          </a:solidFill>
          <a:ln w="9525">
            <a:solidFill>
              <a:srgbClr val="FFFFFF">
                <a:alpha val="40000"/>
              </a:srgbClr>
            </a:solidFill>
            <a:prstDash val="solid"/>
          </a:ln>
        </p:spPr>
      </p:sp>
      <p:sp>
        <p:nvSpPr>
          <p:cNvPr id="12" name="Text 9"/>
          <p:cNvSpPr txBox="1"/>
          <p:nvPr/>
        </p:nvSpPr>
        <p:spPr>
          <a:xfrm>
            <a:off x="8275320" y="2103120"/>
            <a:ext cx="301752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No hospital or emergency-service link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Conclusion</a:t>
            </a:r>
            <a:endParaRPr lang="en-US" sz="3200" dirty="0"/>
          </a:p>
        </p:txBody>
      </p:sp>
      <p:sp>
        <p:nvSpPr>
          <p:cNvPr id="4" name="Conclusion card"/>
          <p:cNvSpPr/>
          <p:nvPr/>
        </p:nvSpPr>
        <p:spPr>
          <a:xfrm>
            <a:off x="640080" y="1371600"/>
            <a:ext cx="10881360" cy="3657600"/>
          </a:xfrm>
          <a:prstGeom prst="roundRect">
            <a:avLst>
              <a:gd name="adj" fmla="val 3000"/>
            </a:avLst>
          </a:prstGeom>
          <a:solidFill>
            <a:srgbClr val="201449">
              <a:alpha val="45000"/>
            </a:srgbClr>
          </a:solidFill>
          <a:ln w="9525">
            <a:solidFill>
              <a:srgbClr val="FFFFFF">
                <a:alpha val="40000"/>
              </a:srgbClr>
            </a:solidFill>
            <a:prstDash val="solid"/>
          </a:ln>
        </p:spPr>
      </p:sp>
      <p:sp>
        <p:nvSpPr>
          <p:cNvPr id="5" name="Text 2"/>
          <p:cNvSpPr txBox="1"/>
          <p:nvPr/>
        </p:nvSpPr>
        <p:spPr>
          <a:xfrm>
            <a:off x="1005840" y="1645920"/>
            <a:ext cx="10149840" cy="3054096"/>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FFFFFF"/>
                </a:solidFill>
                <a:latin typeface="Avenir Next LT Pro" pitchFamily="34" charset="0"/>
                <a:ea typeface="Avenir Next LT Pro" pitchFamily="34" charset="-122"/>
                <a:cs typeface="Avenir Next LT Pro" pitchFamily="34" charset="-120"/>
              </a:rPr>
              <a:t>Smartphone-only system: detects abnormal motion, warns, locates and prepares an emergency message</a:t>
            </a:r>
            <a:endParaRPr lang="en-US" sz="1400" dirty="0"/>
          </a:p>
          <a:p>
            <a:pPr marL="177800" indent="-177800">
              <a:spcAft>
                <a:spcPts val="500"/>
              </a:spcAft>
              <a:buSzPct val="100000"/>
              <a:buChar char="•"/>
            </a:pPr>
            <a:r>
              <a:rPr lang="en-US" sz="1800" dirty="0">
                <a:solidFill>
                  <a:srgbClr val="FFFFFF"/>
                </a:solidFill>
                <a:latin typeface="Avenir Next LT Pro" pitchFamily="34" charset="0"/>
                <a:ea typeface="Avenir Next LT Pro" pitchFamily="34" charset="-122"/>
                <a:cs typeface="Avenir Next LT Pro" pitchFamily="34" charset="-120"/>
              </a:rPr>
              <a:t>Core logic runs on the device with no extra hardware or server</a:t>
            </a:r>
            <a:endParaRPr lang="en-US" sz="1400" dirty="0"/>
          </a:p>
          <a:p>
            <a:pPr marL="177800" indent="-177800">
              <a:spcAft>
                <a:spcPts val="500"/>
              </a:spcAft>
              <a:buSzPct val="100000"/>
              <a:buChar char="•"/>
            </a:pPr>
            <a:r>
              <a:rPr lang="en-US" sz="1800" dirty="0">
                <a:solidFill>
                  <a:srgbClr val="FFFFFF"/>
                </a:solidFill>
                <a:latin typeface="Avenir Next LT Pro" pitchFamily="34" charset="0"/>
                <a:ea typeface="Avenir Next LT Pro" pitchFamily="34" charset="-122"/>
                <a:cs typeface="Avenir Next LT Pro" pitchFamily="34" charset="-120"/>
              </a:rPr>
              <a:t>All 20 prototype test cases passed</a:t>
            </a:r>
            <a:endParaRPr lang="en-US" sz="1400" dirty="0"/>
          </a:p>
          <a:p>
            <a:pPr marL="177800" indent="-177800">
              <a:spcAft>
                <a:spcPts val="500"/>
              </a:spcAft>
              <a:buSzPct val="100000"/>
              <a:buChar char="•"/>
            </a:pPr>
            <a:r>
              <a:rPr lang="en-US" sz="1800" dirty="0">
                <a:solidFill>
                  <a:srgbClr val="FFFFFF"/>
                </a:solidFill>
                <a:latin typeface="Avenir Next LT Pro" pitchFamily="34" charset="0"/>
                <a:ea typeface="Avenir Next LT Pro" pitchFamily="34" charset="-122"/>
                <a:cs typeface="Avenir Next LT Pro" pitchFamily="34" charset="-120"/>
              </a:rPr>
              <a:t>A baseline for adaptive and learned detection</a:t>
            </a:r>
            <a:endParaRPr lang="en-US" sz="1400" dirty="0"/>
          </a:p>
          <a:p>
            <a:pPr marL="177800" indent="-177800">
              <a:spcAft>
                <a:spcPts val="500"/>
              </a:spcAft>
              <a:buSzPct val="100000"/>
              <a:buChar char="•"/>
            </a:pPr>
            <a:r>
              <a:rPr lang="en-US" sz="1800" dirty="0">
                <a:solidFill>
                  <a:srgbClr val="FFFFFF"/>
                </a:solidFill>
                <a:latin typeface="Avenir Next LT Pro" pitchFamily="34" charset="0"/>
                <a:ea typeface="Avenir Next LT Pro" pitchFamily="34" charset="-122"/>
                <a:cs typeface="Avenir Next LT Pro" pitchFamily="34" charset="-120"/>
              </a:rPr>
              <a:t>Most useful for riders and travellers with little built-in crash protection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Future Scope</a:t>
            </a:r>
            <a:endParaRPr lang="en-US" sz="3200" dirty="0"/>
          </a:p>
        </p:txBody>
      </p:sp>
      <p:sp>
        <p:nvSpPr>
          <p:cNvPr id="4" name="Step 1"/>
          <p:cNvSpPr/>
          <p:nvPr/>
        </p:nvSpPr>
        <p:spPr>
          <a:xfrm>
            <a:off x="640080" y="1371600"/>
            <a:ext cx="2514600" cy="914400"/>
          </a:xfrm>
          <a:prstGeom prst="roundRect">
            <a:avLst>
              <a:gd name="adj" fmla="val 12000"/>
            </a:avLst>
          </a:prstGeom>
          <a:solidFill>
            <a:srgbClr val="201449">
              <a:alpha val="45000"/>
            </a:srgbClr>
          </a:solidFill>
          <a:ln w="9525">
            <a:solidFill>
              <a:srgbClr val="FFFFFF">
                <a:alpha val="40000"/>
              </a:srgbClr>
            </a:solidFill>
            <a:prstDash val="solid"/>
          </a:ln>
        </p:spPr>
      </p:sp>
      <p:sp>
        <p:nvSpPr>
          <p:cNvPr id="5" name="Text 2"/>
          <p:cNvSpPr txBox="1"/>
          <p:nvPr/>
        </p:nvSpPr>
        <p:spPr>
          <a:xfrm>
            <a:off x="713232" y="1371600"/>
            <a:ext cx="2368296"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Threshold baseline</a:t>
            </a:r>
            <a:endParaRPr lang="en-US" sz="1300" dirty="0"/>
          </a:p>
        </p:txBody>
      </p:sp>
      <p:sp>
        <p:nvSpPr>
          <p:cNvPr id="6" name="Text 3"/>
          <p:cNvSpPr txBox="1"/>
          <p:nvPr/>
        </p:nvSpPr>
        <p:spPr>
          <a:xfrm>
            <a:off x="3154680" y="1371600"/>
            <a:ext cx="274320" cy="91440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7" name="Step 2"/>
          <p:cNvSpPr/>
          <p:nvPr/>
        </p:nvSpPr>
        <p:spPr>
          <a:xfrm>
            <a:off x="3429000" y="1371600"/>
            <a:ext cx="2514600" cy="914400"/>
          </a:xfrm>
          <a:prstGeom prst="roundRect">
            <a:avLst>
              <a:gd name="adj" fmla="val 12000"/>
            </a:avLst>
          </a:prstGeom>
          <a:solidFill>
            <a:srgbClr val="201449">
              <a:alpha val="45000"/>
            </a:srgbClr>
          </a:solidFill>
          <a:ln w="9525">
            <a:solidFill>
              <a:srgbClr val="FFFFFF">
                <a:alpha val="40000"/>
              </a:srgbClr>
            </a:solidFill>
            <a:prstDash val="solid"/>
          </a:ln>
        </p:spPr>
      </p:sp>
      <p:sp>
        <p:nvSpPr>
          <p:cNvPr id="8" name="Text 5"/>
          <p:cNvSpPr txBox="1"/>
          <p:nvPr/>
        </p:nvSpPr>
        <p:spPr>
          <a:xfrm>
            <a:off x="3502152" y="1371600"/>
            <a:ext cx="2368296"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Adaptive sensitivity</a:t>
            </a:r>
            <a:endParaRPr lang="en-US" sz="1300" dirty="0"/>
          </a:p>
        </p:txBody>
      </p:sp>
      <p:sp>
        <p:nvSpPr>
          <p:cNvPr id="9" name="Text 6"/>
          <p:cNvSpPr txBox="1"/>
          <p:nvPr/>
        </p:nvSpPr>
        <p:spPr>
          <a:xfrm>
            <a:off x="5943600" y="1371600"/>
            <a:ext cx="274320" cy="91440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0" name="Step 3"/>
          <p:cNvSpPr/>
          <p:nvPr/>
        </p:nvSpPr>
        <p:spPr>
          <a:xfrm>
            <a:off x="6217920" y="1371600"/>
            <a:ext cx="2514600" cy="914400"/>
          </a:xfrm>
          <a:prstGeom prst="roundRect">
            <a:avLst>
              <a:gd name="adj" fmla="val 12000"/>
            </a:avLst>
          </a:prstGeom>
          <a:solidFill>
            <a:srgbClr val="201449">
              <a:alpha val="45000"/>
            </a:srgbClr>
          </a:solidFill>
          <a:ln w="9525">
            <a:solidFill>
              <a:srgbClr val="FFFFFF">
                <a:alpha val="40000"/>
              </a:srgbClr>
            </a:solidFill>
            <a:prstDash val="solid"/>
          </a:ln>
        </p:spPr>
      </p:sp>
      <p:sp>
        <p:nvSpPr>
          <p:cNvPr id="11" name="Text 8"/>
          <p:cNvSpPr txBox="1"/>
          <p:nvPr/>
        </p:nvSpPr>
        <p:spPr>
          <a:xfrm>
            <a:off x="6291072" y="1371600"/>
            <a:ext cx="2368296"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Avenir Next LT Pro" pitchFamily="34" charset="0"/>
                <a:ea typeface="Avenir Next LT Pro" pitchFamily="34" charset="-122"/>
                <a:cs typeface="Avenir Next LT Pro" pitchFamily="34" charset="-120"/>
              </a:rPr>
              <a:t>ML classifier</a:t>
            </a:r>
            <a:endParaRPr lang="en-US" sz="1300" dirty="0"/>
          </a:p>
        </p:txBody>
      </p:sp>
      <p:sp>
        <p:nvSpPr>
          <p:cNvPr id="12" name="Text 9"/>
          <p:cNvSpPr txBox="1"/>
          <p:nvPr/>
        </p:nvSpPr>
        <p:spPr>
          <a:xfrm>
            <a:off x="8732520" y="1371600"/>
            <a:ext cx="274320" cy="914400"/>
          </a:xfrm>
          <a:prstGeom prst="rect">
            <a:avLst/>
          </a:prstGeom>
          <a:noFill/>
          <a:ln/>
        </p:spPr>
        <p:txBody>
          <a:bodyPr wrap="square" lIns="0" tIns="0" rIns="0" bIns="0" rtlCol="0" anchor="ctr"/>
          <a:lstStyle/>
          <a:p>
            <a:pPr marL="0" indent="0" algn="ctr">
              <a:buNone/>
            </a:pPr>
            <a:r>
              <a:rPr lang="en-US" sz="1600" b="1" dirty="0">
                <a:solidFill>
                  <a:srgbClr val="FFFFFF"/>
                </a:solidFill>
                <a:latin typeface="Avenir Next LT Pro" pitchFamily="34" charset="0"/>
                <a:ea typeface="Avenir Next LT Pro" pitchFamily="34" charset="-122"/>
                <a:cs typeface="Avenir Next LT Pro" pitchFamily="34" charset="-120"/>
              </a:rPr>
              <a:t>&gt;</a:t>
            </a:r>
            <a:endParaRPr lang="en-US" sz="1600" dirty="0"/>
          </a:p>
        </p:txBody>
      </p:sp>
      <p:sp>
        <p:nvSpPr>
          <p:cNvPr id="13" name="Step 4"/>
          <p:cNvSpPr/>
          <p:nvPr/>
        </p:nvSpPr>
        <p:spPr>
          <a:xfrm>
            <a:off x="9006840" y="1371600"/>
            <a:ext cx="2514600" cy="914400"/>
          </a:xfrm>
          <a:prstGeom prst="roundRect">
            <a:avLst>
              <a:gd name="adj" fmla="val 12000"/>
            </a:avLst>
          </a:prstGeom>
          <a:solidFill>
            <a:srgbClr val="FFFFFF">
              <a:alpha val="92000"/>
            </a:srgbClr>
          </a:solidFill>
          <a:ln w="9525">
            <a:solidFill>
              <a:srgbClr val="FFFFFF">
                <a:alpha val="40000"/>
              </a:srgbClr>
            </a:solidFill>
            <a:prstDash val="solid"/>
          </a:ln>
        </p:spPr>
      </p:sp>
      <p:sp>
        <p:nvSpPr>
          <p:cNvPr id="14" name="Text 11"/>
          <p:cNvSpPr txBox="1"/>
          <p:nvPr/>
        </p:nvSpPr>
        <p:spPr>
          <a:xfrm>
            <a:off x="9079992" y="1371600"/>
            <a:ext cx="2368296" cy="914400"/>
          </a:xfrm>
          <a:prstGeom prst="rect">
            <a:avLst/>
          </a:prstGeom>
          <a:noFill/>
          <a:ln/>
        </p:spPr>
        <p:txBody>
          <a:bodyPr wrap="square" lIns="0" tIns="0" rIns="0" bIns="0" rtlCol="0" anchor="ctr"/>
          <a:lstStyle/>
          <a:p>
            <a:pPr marL="0" indent="0" algn="ctr">
              <a:buNone/>
            </a:pPr>
            <a:r>
              <a:rPr lang="en-US" sz="1300" b="1" dirty="0">
                <a:solidFill>
                  <a:srgbClr val="201449"/>
                </a:solidFill>
                <a:latin typeface="Avenir Next LT Pro" pitchFamily="34" charset="0"/>
                <a:ea typeface="Avenir Next LT Pro" pitchFamily="34" charset="-122"/>
                <a:cs typeface="Avenir Next LT Pro" pitchFamily="34" charset="-120"/>
              </a:rPr>
              <a:t>Wearables and emergency services</a:t>
            </a:r>
            <a:endParaRPr lang="en-US" sz="1300" dirty="0"/>
          </a:p>
        </p:txBody>
      </p:sp>
      <p:sp>
        <p:nvSpPr>
          <p:cNvPr id="15" name="Detection"/>
          <p:cNvSpPr/>
          <p:nvPr/>
        </p:nvSpPr>
        <p:spPr>
          <a:xfrm>
            <a:off x="640080" y="2606040"/>
            <a:ext cx="5326380" cy="3520440"/>
          </a:xfrm>
          <a:prstGeom prst="roundRect">
            <a:avLst>
              <a:gd name="adj" fmla="val 3117"/>
            </a:avLst>
          </a:prstGeom>
          <a:solidFill>
            <a:srgbClr val="201449">
              <a:alpha val="45000"/>
            </a:srgbClr>
          </a:solidFill>
          <a:ln w="9525">
            <a:solidFill>
              <a:srgbClr val="FFFFFF">
                <a:alpha val="40000"/>
              </a:srgbClr>
            </a:solidFill>
            <a:prstDash val="solid"/>
          </a:ln>
        </p:spPr>
      </p:sp>
      <p:sp>
        <p:nvSpPr>
          <p:cNvPr id="16" name="Text 13"/>
          <p:cNvSpPr txBox="1"/>
          <p:nvPr/>
        </p:nvSpPr>
        <p:spPr>
          <a:xfrm>
            <a:off x="868680" y="2788920"/>
            <a:ext cx="4869180" cy="411480"/>
          </a:xfrm>
          <a:prstGeom prst="rect">
            <a:avLst/>
          </a:prstGeom>
          <a:noFill/>
          <a:ln/>
        </p:spPr>
        <p:txBody>
          <a:bodyPr wrap="square" lIns="0" tIns="0" rIns="0" bIns="0" rtlCol="0" anchor="t"/>
          <a:lstStyle/>
          <a:p>
            <a:pPr marL="0" indent="0">
              <a:buNone/>
            </a:pPr>
            <a:r>
              <a:rPr lang="en-US" sz="1700" b="1" dirty="0">
                <a:solidFill>
                  <a:srgbClr val="FFFFFF"/>
                </a:solidFill>
                <a:latin typeface="Avenir Next LT Pro" pitchFamily="34" charset="0"/>
                <a:ea typeface="Avenir Next LT Pro" pitchFamily="34" charset="-122"/>
                <a:cs typeface="Avenir Next LT Pro" pitchFamily="34" charset="-120"/>
              </a:rPr>
              <a:t>Detection</a:t>
            </a:r>
            <a:endParaRPr lang="en-US" sz="1700" dirty="0"/>
          </a:p>
        </p:txBody>
      </p:sp>
      <p:sp>
        <p:nvSpPr>
          <p:cNvPr id="17" name="Text 14"/>
          <p:cNvSpPr txBox="1"/>
          <p:nvPr/>
        </p:nvSpPr>
        <p:spPr>
          <a:xfrm>
            <a:off x="868680" y="3337560"/>
            <a:ext cx="4869180" cy="2606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ML on labelled accelerometer and gyroscope data</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Adaptive sensitivity per user and placement</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Vehicle link via Bluetooth / OBD-II</a:t>
            </a:r>
            <a:endParaRPr lang="en-US" sz="1400" dirty="0"/>
          </a:p>
          <a:p>
            <a:pPr marL="177800" indent="-177800">
              <a:spcAft>
                <a:spcPts val="500"/>
              </a:spcAft>
              <a:buSzPct val="100000"/>
              <a:buChar char="•"/>
            </a:pPr>
            <a:r>
              <a:rPr lang="en-US" sz="1400" dirty="0">
                <a:solidFill>
                  <a:srgbClr val="FFFFFF"/>
                </a:solidFill>
                <a:latin typeface="Avenir Next LT Pro" pitchFamily="34" charset="0"/>
                <a:ea typeface="Avenir Next LT Pro" pitchFamily="34" charset="-122"/>
                <a:cs typeface="Avenir Next LT Pro" pitchFamily="34" charset="-120"/>
              </a:rPr>
              <a:t>Wearables: heart rate, SpO2, fall detection</a:t>
            </a:r>
            <a:endParaRPr lang="en-US" sz="1400" dirty="0"/>
          </a:p>
        </p:txBody>
      </p:sp>
      <p:sp>
        <p:nvSpPr>
          <p:cNvPr id="18" name="Reach and usability"/>
          <p:cNvSpPr/>
          <p:nvPr/>
        </p:nvSpPr>
        <p:spPr>
          <a:xfrm>
            <a:off x="6195060" y="2606040"/>
            <a:ext cx="5326380" cy="3520440"/>
          </a:xfrm>
          <a:prstGeom prst="roundRect">
            <a:avLst>
              <a:gd name="adj" fmla="val 3117"/>
            </a:avLst>
          </a:prstGeom>
          <a:solidFill>
            <a:srgbClr val="FFFFFF">
              <a:alpha val="92000"/>
            </a:srgbClr>
          </a:solidFill>
          <a:ln w="9525">
            <a:solidFill>
              <a:srgbClr val="FFFFFF">
                <a:alpha val="40000"/>
              </a:srgbClr>
            </a:solidFill>
            <a:prstDash val="solid"/>
          </a:ln>
        </p:spPr>
      </p:sp>
      <p:sp>
        <p:nvSpPr>
          <p:cNvPr id="19" name="Text 16"/>
          <p:cNvSpPr txBox="1"/>
          <p:nvPr/>
        </p:nvSpPr>
        <p:spPr>
          <a:xfrm>
            <a:off x="6423660" y="2788920"/>
            <a:ext cx="4869180" cy="411480"/>
          </a:xfrm>
          <a:prstGeom prst="rect">
            <a:avLst/>
          </a:prstGeom>
          <a:noFill/>
          <a:ln/>
        </p:spPr>
        <p:txBody>
          <a:bodyPr wrap="square" lIns="0" tIns="0" rIns="0" bIns="0" rtlCol="0" anchor="t"/>
          <a:lstStyle/>
          <a:p>
            <a:pPr marL="0" indent="0">
              <a:buNone/>
            </a:pPr>
            <a:r>
              <a:rPr lang="en-US" sz="1700" b="1" dirty="0">
                <a:solidFill>
                  <a:srgbClr val="201449"/>
                </a:solidFill>
                <a:latin typeface="Avenir Next LT Pro" pitchFamily="34" charset="0"/>
                <a:ea typeface="Avenir Next LT Pro" pitchFamily="34" charset="-122"/>
                <a:cs typeface="Avenir Next LT Pro" pitchFamily="34" charset="-120"/>
              </a:rPr>
              <a:t>Reach and usability</a:t>
            </a:r>
            <a:endParaRPr lang="en-US" sz="1700" dirty="0"/>
          </a:p>
        </p:txBody>
      </p:sp>
      <p:sp>
        <p:nvSpPr>
          <p:cNvPr id="20" name="Text 17"/>
          <p:cNvSpPr txBox="1"/>
          <p:nvPr/>
        </p:nvSpPr>
        <p:spPr>
          <a:xfrm>
            <a:off x="6423660" y="3337560"/>
            <a:ext cx="4869180" cy="2606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Multiple contacts with priority escalation</a:t>
            </a:r>
            <a:endParaRPr lang="en-US" sz="1400" dirty="0"/>
          </a:p>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Direct emergency-service integration</a:t>
            </a:r>
            <a:endParaRPr lang="en-US" sz="1400" dirty="0"/>
          </a:p>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Manual SOS button</a:t>
            </a:r>
            <a:endParaRPr lang="en-US" sz="1400" dirty="0"/>
          </a:p>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Voice check on consciousness</a:t>
            </a:r>
            <a:endParaRPr lang="en-US" sz="1400" dirty="0"/>
          </a:p>
          <a:p>
            <a:pPr marL="177800" indent="-177800">
              <a:spcAft>
                <a:spcPts val="500"/>
              </a:spcAft>
              <a:buSzPct val="100000"/>
              <a:buChar char="•"/>
            </a:pPr>
            <a:r>
              <a:rPr lang="en-US" sz="1400" dirty="0">
                <a:solidFill>
                  <a:srgbClr val="201449"/>
                </a:solidFill>
                <a:latin typeface="Avenir Next LT Pro" pitchFamily="34" charset="0"/>
                <a:ea typeface="Avenir Next LT Pro" pitchFamily="34" charset="-122"/>
                <a:cs typeface="Avenir Next LT Pro" pitchFamily="34" charset="-120"/>
              </a:rPr>
              <a:t>Battery-aware background monitoring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320040"/>
            <a:ext cx="10881360" cy="822960"/>
          </a:xfrm>
          <a:prstGeom prst="rect">
            <a:avLst/>
          </a:prstGeom>
          <a:noFill/>
          <a:ln/>
        </p:spPr>
        <p:txBody>
          <a:bodyPr wrap="square" lIns="0" tIns="0" rIns="0" bIns="0" rtlCol="0" anchor="ctr"/>
          <a:lstStyle/>
          <a:p>
            <a:pPr marL="0" indent="0" algn="l">
              <a:buNone/>
            </a:pPr>
            <a:r>
              <a:rPr lang="en-US" sz="3200" dirty="0">
                <a:solidFill>
                  <a:srgbClr val="FFFFFF"/>
                </a:solidFill>
                <a:latin typeface="Avenir Next LT Pro" pitchFamily="34" charset="0"/>
                <a:ea typeface="Avenir Next LT Pro" pitchFamily="34" charset="-122"/>
                <a:cs typeface="Avenir Next LT Pro" pitchFamily="34" charset="-120"/>
              </a:rPr>
              <a:t>References</a:t>
            </a:r>
            <a:endParaRPr lang="en-US" sz="3200" dirty="0"/>
          </a:p>
        </p:txBody>
      </p:sp>
      <p:sp>
        <p:nvSpPr>
          <p:cNvPr id="4" name="Refs 1"/>
          <p:cNvSpPr/>
          <p:nvPr/>
        </p:nvSpPr>
        <p:spPr>
          <a:xfrm>
            <a:off x="640080" y="1371600"/>
            <a:ext cx="5349240" cy="4754880"/>
          </a:xfrm>
          <a:prstGeom prst="roundRect">
            <a:avLst>
              <a:gd name="adj" fmla="val 2308"/>
            </a:avLst>
          </a:prstGeom>
          <a:solidFill>
            <a:srgbClr val="201449">
              <a:alpha val="45000"/>
            </a:srgbClr>
          </a:solidFill>
          <a:ln w="9525">
            <a:solidFill>
              <a:srgbClr val="FFFFFF">
                <a:alpha val="40000"/>
              </a:srgbClr>
            </a:solidFill>
            <a:prstDash val="solid"/>
          </a:ln>
        </p:spPr>
      </p:sp>
      <p:sp>
        <p:nvSpPr>
          <p:cNvPr id="5" name="Text 2"/>
          <p:cNvSpPr txBox="1"/>
          <p:nvPr/>
        </p:nvSpPr>
        <p:spPr>
          <a:xfrm>
            <a:off x="868680" y="1554480"/>
            <a:ext cx="4892040" cy="4480560"/>
          </a:xfrm>
          <a:prstGeom prst="rect">
            <a:avLst/>
          </a:prstGeom>
          <a:noFill/>
          <a:ln/>
        </p:spPr>
        <p:txBody>
          <a:bodyPr wrap="square" lIns="0" tIns="0" rIns="0" bIns="0" rtlCol="0" anchor="t"/>
          <a:lstStyle/>
          <a:p>
            <a:pPr marL="0" indent="0">
              <a:spcAft>
                <a:spcPts val="600"/>
              </a:spcAft>
              <a:buNone/>
            </a:pPr>
            <a:r>
              <a:rPr lang="en-US" sz="1050" dirty="0">
                <a:solidFill>
                  <a:srgbClr val="FFFFFF"/>
                </a:solidFill>
                <a:latin typeface="Avenir Next LT Pro" pitchFamily="34" charset="0"/>
                <a:ea typeface="Avenir Next LT Pro" pitchFamily="34" charset="-122"/>
                <a:cs typeface="Avenir Next LT Pro" pitchFamily="34" charset="-120"/>
              </a:rPr>
              <a:t>[1] J. White, C. Thompson, H. Turner, B. Dougherty, and D. C. Schmidt, "WreckWatch: Automatic traffic accident detection and notification with smartphones," Mobile Netw. Appl., vol. 16, pp. 285-303, 2011.</a:t>
            </a:r>
            <a:endParaRPr lang="en-US" sz="1400" dirty="0"/>
          </a:p>
          <a:p>
            <a:pPr marL="0" indent="0">
              <a:spcAft>
                <a:spcPts val="600"/>
              </a:spcAft>
              <a:buNone/>
            </a:pPr>
            <a:r>
              <a:rPr lang="en-US" sz="1050" dirty="0">
                <a:solidFill>
                  <a:srgbClr val="FFFFFF"/>
                </a:solidFill>
                <a:latin typeface="Avenir Next LT Pro" pitchFamily="34" charset="0"/>
                <a:ea typeface="Avenir Next LT Pro" pitchFamily="34" charset="-122"/>
                <a:cs typeface="Avenir Next LT Pro" pitchFamily="34" charset="-120"/>
              </a:rPr>
              <a:t>[2] F. A. Aloul, I. A. Zualkernan, R. Abu-Salma, H. Al-Ali, and M. Al-Merri, "iBump: Smartphone application to detect car accidents," Comput. Elect. Eng., vol. 43, pp. 66-75, 2015.</a:t>
            </a:r>
            <a:endParaRPr lang="en-US" sz="1400" dirty="0"/>
          </a:p>
          <a:p>
            <a:pPr marL="0" indent="0">
              <a:spcAft>
                <a:spcPts val="600"/>
              </a:spcAft>
              <a:buNone/>
            </a:pPr>
            <a:r>
              <a:rPr lang="en-US" sz="1050" dirty="0">
                <a:solidFill>
                  <a:srgbClr val="FFFFFF"/>
                </a:solidFill>
                <a:latin typeface="Avenir Next LT Pro" pitchFamily="34" charset="0"/>
                <a:ea typeface="Avenir Next LT Pro" pitchFamily="34" charset="-122"/>
                <a:cs typeface="Avenir Next LT Pro" pitchFamily="34" charset="-120"/>
              </a:rPr>
              <a:t>[3] B. Fernandes, M. Alam, V. Gomes, J. Ferreira, and A. Oliveira, "Automatic accident detection with multi-modal alert system implementation for ITS," Veh. Commun., vol. 3, pp. 1-11, 2016.</a:t>
            </a:r>
            <a:endParaRPr lang="en-US" sz="1400" dirty="0"/>
          </a:p>
          <a:p>
            <a:pPr marL="0" indent="0">
              <a:spcAft>
                <a:spcPts val="600"/>
              </a:spcAft>
              <a:buNone/>
            </a:pPr>
            <a:r>
              <a:rPr lang="en-US" sz="1050" dirty="0">
                <a:solidFill>
                  <a:srgbClr val="FFFFFF"/>
                </a:solidFill>
                <a:latin typeface="Avenir Next LT Pro" pitchFamily="34" charset="0"/>
                <a:ea typeface="Avenir Next LT Pro" pitchFamily="34" charset="-122"/>
                <a:cs typeface="Avenir Next LT Pro" pitchFamily="34" charset="-120"/>
              </a:rPr>
              <a:t>[4] J. Lahn, H. Peter, and P. Braun, "Car crash detection on smartphones," in Proc. 2nd Int. Workshop Sensor-based Activity Recognition and Interaction, 2015.</a:t>
            </a:r>
            <a:endParaRPr lang="en-US" sz="1400" dirty="0"/>
          </a:p>
          <a:p>
            <a:pPr marL="0" indent="0">
              <a:spcAft>
                <a:spcPts val="600"/>
              </a:spcAft>
              <a:buNone/>
            </a:pPr>
            <a:r>
              <a:rPr lang="en-US" sz="1050" dirty="0">
                <a:solidFill>
                  <a:srgbClr val="FFFFFF"/>
                </a:solidFill>
                <a:latin typeface="Avenir Next LT Pro" pitchFamily="34" charset="0"/>
                <a:ea typeface="Avenir Next LT Pro" pitchFamily="34" charset="-122"/>
                <a:cs typeface="Avenir Next LT Pro" pitchFamily="34" charset="-120"/>
              </a:rPr>
              <a:t>[5] F. Bhatti, M. A. Shah, C. Maple, and S. U. Islam, "A novel Internet of Things-enabled accident detection and reporting system for smart city environments," Sensors, vol. 19, no. 9, p. 2071, 2019.</a:t>
            </a:r>
            <a:endParaRPr lang="en-US" sz="1400" dirty="0"/>
          </a:p>
          <a:p>
            <a:pPr marL="0" indent="0">
              <a:spcAft>
                <a:spcPts val="600"/>
              </a:spcAft>
              <a:buNone/>
            </a:pPr>
            <a:r>
              <a:rPr lang="en-US" sz="1050" dirty="0">
                <a:solidFill>
                  <a:srgbClr val="FFFFFF"/>
                </a:solidFill>
                <a:latin typeface="Avenir Next LT Pro" pitchFamily="34" charset="0"/>
                <a:ea typeface="Avenir Next LT Pro" pitchFamily="34" charset="-122"/>
                <a:cs typeface="Avenir Next LT Pro" pitchFamily="34" charset="-120"/>
              </a:rPr>
              <a:t>[6] Shailaja and Reddy, "ResQ - Accident detection and alerts app," Utilitas Mathematica, 2025.</a:t>
            </a:r>
            <a:endParaRPr lang="en-US" sz="1400" dirty="0"/>
          </a:p>
        </p:txBody>
      </p:sp>
      <p:sp>
        <p:nvSpPr>
          <p:cNvPr id="6" name="Refs 2"/>
          <p:cNvSpPr/>
          <p:nvPr/>
        </p:nvSpPr>
        <p:spPr>
          <a:xfrm>
            <a:off x="6172200" y="1371600"/>
            <a:ext cx="5349240" cy="4754880"/>
          </a:xfrm>
          <a:prstGeom prst="roundRect">
            <a:avLst>
              <a:gd name="adj" fmla="val 2308"/>
            </a:avLst>
          </a:prstGeom>
          <a:solidFill>
            <a:srgbClr val="FFFFFF">
              <a:alpha val="92000"/>
            </a:srgbClr>
          </a:solidFill>
          <a:ln w="9525">
            <a:solidFill>
              <a:srgbClr val="FFFFFF">
                <a:alpha val="40000"/>
              </a:srgbClr>
            </a:solidFill>
            <a:prstDash val="solid"/>
          </a:ln>
        </p:spPr>
      </p:sp>
      <p:sp>
        <p:nvSpPr>
          <p:cNvPr id="7" name="Text 4"/>
          <p:cNvSpPr txBox="1"/>
          <p:nvPr/>
        </p:nvSpPr>
        <p:spPr>
          <a:xfrm>
            <a:off x="6400800" y="1554480"/>
            <a:ext cx="4892040" cy="4480560"/>
          </a:xfrm>
          <a:prstGeom prst="rect">
            <a:avLst/>
          </a:prstGeom>
          <a:noFill/>
          <a:ln/>
        </p:spPr>
        <p:txBody>
          <a:bodyPr wrap="square" lIns="0" tIns="0" rIns="0" bIns="0" rtlCol="0" anchor="t"/>
          <a:lstStyle/>
          <a:p>
            <a:pPr marL="0" indent="0">
              <a:spcAft>
                <a:spcPts val="600"/>
              </a:spcAft>
              <a:buNone/>
            </a:pPr>
            <a:r>
              <a:rPr lang="en-US" sz="1050" dirty="0">
                <a:solidFill>
                  <a:srgbClr val="201449"/>
                </a:solidFill>
                <a:latin typeface="Avenir Next LT Pro" pitchFamily="34" charset="0"/>
                <a:ea typeface="Avenir Next LT Pro" pitchFamily="34" charset="-122"/>
                <a:cs typeface="Avenir Next LT Pro" pitchFamily="34" charset="-120"/>
              </a:rPr>
              <a:t>[7] A. Fanca, A. Puscasiu, and H. Valean, "Accident reporting and guidance system with automatic detection of the accident," in Proc. 20th Int. Conf. System Theory, Control and Computing, 2016.</a:t>
            </a:r>
            <a:endParaRPr lang="en-US" sz="1400" dirty="0"/>
          </a:p>
          <a:p>
            <a:pPr marL="0" indent="0">
              <a:spcAft>
                <a:spcPts val="600"/>
              </a:spcAft>
              <a:buNone/>
            </a:pPr>
            <a:r>
              <a:rPr lang="en-US" sz="1050" dirty="0">
                <a:solidFill>
                  <a:srgbClr val="201449"/>
                </a:solidFill>
                <a:latin typeface="Avenir Next LT Pro" pitchFamily="34" charset="0"/>
                <a:ea typeface="Avenir Next LT Pro" pitchFamily="34" charset="-122"/>
                <a:cs typeface="Avenir Next LT Pro" pitchFamily="34" charset="-120"/>
              </a:rPr>
              <a:t>[8] World Health Organization, Global status report on road safety 2023. Geneva, Switzerland: WHO, 2023.</a:t>
            </a:r>
            <a:endParaRPr lang="en-US" sz="1400" dirty="0"/>
          </a:p>
          <a:p>
            <a:pPr marL="0" indent="0">
              <a:spcAft>
                <a:spcPts val="600"/>
              </a:spcAft>
              <a:buNone/>
            </a:pPr>
            <a:r>
              <a:rPr lang="en-US" sz="1050" dirty="0">
                <a:solidFill>
                  <a:srgbClr val="201449"/>
                </a:solidFill>
                <a:latin typeface="Avenir Next LT Pro" pitchFamily="34" charset="0"/>
                <a:ea typeface="Avenir Next LT Pro" pitchFamily="34" charset="-122"/>
                <a:cs typeface="Avenir Next LT Pro" pitchFamily="34" charset="-120"/>
              </a:rPr>
              <a:t>[9] Flutter, "Flutter documentation," 2026. [Online]. Available: https://docs.flutter.dev/</a:t>
            </a:r>
            <a:endParaRPr lang="en-US" sz="1400" dirty="0"/>
          </a:p>
          <a:p>
            <a:pPr marL="0" indent="0">
              <a:spcAft>
                <a:spcPts val="600"/>
              </a:spcAft>
              <a:buNone/>
            </a:pPr>
            <a:r>
              <a:rPr lang="en-US" sz="1050" dirty="0">
                <a:solidFill>
                  <a:srgbClr val="201449"/>
                </a:solidFill>
                <a:latin typeface="Avenir Next LT Pro" pitchFamily="34" charset="0"/>
                <a:ea typeface="Avenir Next LT Pro" pitchFamily="34" charset="-122"/>
                <a:cs typeface="Avenir Next LT Pro" pitchFamily="34" charset="-120"/>
              </a:rPr>
              <a:t>[10] "sensors_plus," pub.dev, 2026. [Online]. Available: https://pub.dev/packages/sensors_plus</a:t>
            </a:r>
            <a:endParaRPr lang="en-US" sz="1400" dirty="0"/>
          </a:p>
          <a:p>
            <a:pPr marL="0" indent="0">
              <a:spcAft>
                <a:spcPts val="600"/>
              </a:spcAft>
              <a:buNone/>
            </a:pPr>
            <a:r>
              <a:rPr lang="en-US" sz="1050" dirty="0">
                <a:solidFill>
                  <a:srgbClr val="201449"/>
                </a:solidFill>
                <a:latin typeface="Avenir Next LT Pro" pitchFamily="34" charset="0"/>
                <a:ea typeface="Avenir Next LT Pro" pitchFamily="34" charset="-122"/>
                <a:cs typeface="Avenir Next LT Pro" pitchFamily="34" charset="-120"/>
              </a:rPr>
              <a:t>[11] "geolocator," pub.dev, 2026. [Online]. Available: https://pub.dev/packages/geolocator</a:t>
            </a:r>
            <a:endParaRPr lang="en-US" sz="1400" dirty="0"/>
          </a:p>
          <a:p>
            <a:pPr marL="0" indent="0">
              <a:spcAft>
                <a:spcPts val="600"/>
              </a:spcAft>
              <a:buNone/>
            </a:pPr>
            <a:r>
              <a:rPr lang="en-US" sz="1050" dirty="0">
                <a:solidFill>
                  <a:srgbClr val="201449"/>
                </a:solidFill>
                <a:latin typeface="Avenir Next LT Pro" pitchFamily="34" charset="0"/>
                <a:ea typeface="Avenir Next LT Pro" pitchFamily="34" charset="-122"/>
                <a:cs typeface="Avenir Next LT Pro" pitchFamily="34" charset="-120"/>
              </a:rPr>
              <a:t>[12] "shared_preferences," pub.dev, 2026. [Online]. Available: https://pub.dev/packages/shared_preferences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venir Next LT Pro"/>
                <a:ea typeface="Avenir Next LT Pro"/>
                <a:cs typeface="Avenir Next LT Pro"/>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hank you card"/>
          <p:cNvSpPr/>
          <p:nvPr/>
        </p:nvSpPr>
        <p:spPr>
          <a:xfrm>
            <a:off x="2011680" y="1463040"/>
            <a:ext cx="8138160" cy="3931920"/>
          </a:xfrm>
          <a:prstGeom prst="roundRect">
            <a:avLst>
              <a:gd name="adj" fmla="val 2791"/>
            </a:avLst>
          </a:prstGeom>
          <a:solidFill>
            <a:srgbClr val="FFFFFF">
              <a:alpha val="92000"/>
            </a:srgbClr>
          </a:solidFill>
          <a:ln w="9525">
            <a:solidFill>
              <a:srgbClr val="FFFFFF">
                <a:alpha val="40000"/>
              </a:srgbClr>
            </a:solidFill>
            <a:prstDash val="solid"/>
          </a:ln>
        </p:spPr>
      </p:sp>
      <p:sp>
        <p:nvSpPr>
          <p:cNvPr id="3" name="Text 1"/>
          <p:cNvSpPr txBox="1"/>
          <p:nvPr/>
        </p:nvSpPr>
        <p:spPr>
          <a:xfrm>
            <a:off x="2011680" y="1828800"/>
            <a:ext cx="8138160" cy="1097280"/>
          </a:xfrm>
          <a:prstGeom prst="rect">
            <a:avLst/>
          </a:prstGeom>
          <a:noFill/>
          <a:ln/>
        </p:spPr>
        <p:txBody>
          <a:bodyPr wrap="square" lIns="0" tIns="0" rIns="0" bIns="0" rtlCol="0" anchor="ctr"/>
          <a:lstStyle/>
          <a:p>
            <a:pPr marL="0" indent="0" algn="ctr">
              <a:buNone/>
            </a:pPr>
            <a:r>
              <a:rPr lang="en-US" sz="5400" dirty="0">
                <a:solidFill>
                  <a:srgbClr val="201449"/>
                </a:solidFill>
                <a:latin typeface="Sabon Next LT" pitchFamily="34" charset="0"/>
                <a:ea typeface="Sabon Next LT" pitchFamily="34" charset="-122"/>
                <a:cs typeface="Sabon Next LT" pitchFamily="34" charset="-120"/>
              </a:rPr>
              <a:t>Thank You</a:t>
            </a:r>
            <a:endParaRPr lang="en-US" sz="5400" dirty="0"/>
          </a:p>
        </p:txBody>
      </p:sp>
      <p:sp>
        <p:nvSpPr>
          <p:cNvPr id="4" name="Text 2"/>
          <p:cNvSpPr txBox="1"/>
          <p:nvPr/>
        </p:nvSpPr>
        <p:spPr>
          <a:xfrm>
            <a:off x="2011680" y="3017520"/>
            <a:ext cx="8138160" cy="640080"/>
          </a:xfrm>
          <a:prstGeom prst="rect">
            <a:avLst/>
          </a:prstGeom>
          <a:noFill/>
          <a:ln/>
        </p:spPr>
        <p:txBody>
          <a:bodyPr wrap="square" lIns="0" tIns="0" rIns="0" bIns="0" rtlCol="0" anchor="t"/>
          <a:lstStyle/>
          <a:p>
            <a:pPr marL="0" indent="0" algn="ctr">
              <a:buNone/>
            </a:pPr>
            <a:endParaRPr lang="en-US" sz="2800" dirty="0"/>
          </a:p>
        </p:txBody>
      </p:sp>
      <p:sp>
        <p:nvSpPr>
          <p:cNvPr id="5" name="Text 3"/>
          <p:cNvSpPr txBox="1"/>
          <p:nvPr/>
        </p:nvSpPr>
        <p:spPr>
          <a:xfrm>
            <a:off x="2011680" y="4023360"/>
            <a:ext cx="8138160" cy="914400"/>
          </a:xfrm>
          <a:prstGeom prst="rect">
            <a:avLst/>
          </a:prstGeom>
          <a:noFill/>
          <a:ln/>
        </p:spPr>
        <p:txBody>
          <a:bodyPr wrap="square" lIns="0" tIns="0" rIns="0" bIns="0" rtlCol="0" anchor="t"/>
          <a:lstStyle/>
          <a:p>
            <a:pPr marL="0" indent="0" algn="ctr">
              <a:buNone/>
            </a:pPr>
            <a:r>
              <a:rPr lang="en-US" sz="1400" dirty="0">
                <a:solidFill>
                  <a:srgbClr val="454B78"/>
                </a:solidFill>
                <a:latin typeface="Avenir Next LT Pro" pitchFamily="34" charset="0"/>
                <a:ea typeface="Avenir Next LT Pro" pitchFamily="34" charset="-122"/>
                <a:cs typeface="Avenir Next LT Pro" pitchFamily="34" charset="-120"/>
              </a:rPr>
              <a:t>Abhishikth S Siby | MLM25MCA-2004</a:t>
            </a:r>
            <a:endParaRPr lang="en-US" sz="1400" dirty="0"/>
          </a:p>
          <a:p>
            <a:pPr marL="0" indent="0" algn="ctr">
              <a:buNone/>
            </a:pPr>
            <a:r>
              <a:rPr lang="en-US" sz="1400" dirty="0">
                <a:solidFill>
                  <a:srgbClr val="454B78"/>
                </a:solidFill>
                <a:latin typeface="Avenir Next LT Pro" pitchFamily="34" charset="0"/>
                <a:ea typeface="Avenir Next LT Pro" pitchFamily="34" charset="-122"/>
                <a:cs typeface="Avenir Next LT Pro" pitchFamily="34" charset="-120"/>
              </a:rPr>
              <a:t>Guide: Ms. Anju John | Mangalam College of Engineering, Ettumanoor</a:t>
            </a:r>
            <a:endParaRPr lang="en-US" sz="1400" dirty="0"/>
          </a:p>
        </p:txBody>
      </p:sp>
    </p:spTree>
  </p:cSld>
  <p:clrMapOvr>
    <a:masterClrMapping/>
  </p:clrMapOvr>
</p:sld>
</file>

<file path=ppt/theme/theme1.xml><?xml version="1.0" encoding="utf-8"?>
<a:theme xmlns:a="http://schemas.openxmlformats.org/drawingml/2006/main" name="Luminous Accident Alert">
  <a:themeElements>
    <a:clrScheme name="Luminous Accident Alert">
      <a:dk1>
        <a:srgbClr val="201449"/>
      </a:dk1>
      <a:lt1>
        <a:srgbClr val="FFFFFF"/>
      </a:lt1>
      <a:dk2>
        <a:srgbClr val="454B78"/>
      </a:dk2>
      <a:lt2>
        <a:srgbClr val="EEEEEE"/>
      </a:lt2>
      <a:accent1>
        <a:srgbClr val="F900A0"/>
      </a:accent1>
      <a:accent2>
        <a:srgbClr val="4D4EE6"/>
      </a:accent2>
      <a:accent3>
        <a:srgbClr val="7162FE"/>
      </a:accent3>
      <a:accent4>
        <a:srgbClr val="1EBE9B"/>
      </a:accent4>
      <a:accent5>
        <a:srgbClr val="8477FE"/>
      </a:accent5>
      <a:accent6>
        <a:srgbClr val="A3A3C1"/>
      </a:accent6>
      <a:hlink>
        <a:srgbClr val="4D4EE6"/>
      </a:hlink>
      <a:folHlink>
        <a:srgbClr val="8477FE"/>
      </a:folHlink>
    </a:clrScheme>
    <a:fontScheme name="Luminous Accident Alert">
      <a:majorFont>
        <a:latin typeface="Avenir Next LT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LT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1001</TotalTime>
  <Words>3051</Words>
  <Application>Microsoft Office PowerPoint</Application>
  <PresentationFormat>Widescreen</PresentationFormat>
  <Paragraphs>491</Paragraphs>
  <Slides>31</Slides>
  <Notes>27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Avenir Next LT Pro</vt:lpstr>
      <vt:lpstr>Courier New</vt:lpstr>
      <vt:lpstr>Sabon Next LT</vt:lpstr>
      <vt:lpstr>Times New Roman</vt:lpstr>
      <vt:lpstr>Luminous Accident Alert</vt:lpstr>
      <vt:lpstr>PowerPoint Presentation</vt:lpstr>
      <vt:lpstr>Introduction</vt:lpstr>
      <vt:lpstr>Abstract</vt:lpstr>
      <vt:lpstr>Problem Definition</vt:lpstr>
      <vt:lpstr>Objectives</vt:lpstr>
      <vt:lpstr>Existing System</vt:lpstr>
      <vt:lpstr>Proposed System</vt:lpstr>
      <vt:lpstr>Scope of the Project</vt:lpstr>
      <vt:lpstr>Literature Review</vt:lpstr>
      <vt:lpstr>Technologies Used</vt:lpstr>
      <vt:lpstr>Software &amp; Hardware Requirements</vt:lpstr>
      <vt:lpstr>System Architecture</vt:lpstr>
      <vt:lpstr>PowerPoint Presentation</vt:lpstr>
      <vt:lpstr>Design Diagrams</vt:lpstr>
      <vt:lpstr>PowerPoint Presentation</vt:lpstr>
      <vt:lpstr>PowerPoint Presentation</vt:lpstr>
      <vt:lpstr>PowerPoint Presentation</vt:lpstr>
      <vt:lpstr>PowerPoint Presentation</vt:lpstr>
      <vt:lpstr>Module Description</vt:lpstr>
      <vt:lpstr>Algorithm / Methodology</vt:lpstr>
      <vt:lpstr>Results / Analysis</vt:lpstr>
      <vt:lpstr>Screenshots / Output</vt:lpstr>
      <vt:lpstr>Comparison with Existing System</vt:lpstr>
      <vt:lpstr>Testing</vt:lpstr>
      <vt:lpstr>Demo Video</vt:lpstr>
      <vt:lpstr>Advantages</vt:lpstr>
      <vt:lpstr>Limitations</vt:lpstr>
      <vt:lpstr>Conclusion</vt:lpstr>
      <vt:lpstr>Future Scope</vt:lpstr>
      <vt:lpstr>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Accident Detection and Alert System Using Smartphone Sensors</dc:title>
  <dc:subject>PptxGenJS Presentation</dc:subject>
  <dc:creator>Abhishikth S Siby</dc:creator>
  <cp:lastModifiedBy>Abhishikth S Siby</cp:lastModifiedBy>
  <cp:revision>7</cp:revision>
  <dcterms:created xsi:type="dcterms:W3CDTF">2026-10-02T11:35:24Z</dcterms:created>
  <dcterms:modified xsi:type="dcterms:W3CDTF">2026-10-15T08:47:43Z</dcterms:modified>
</cp:coreProperties>
</file>